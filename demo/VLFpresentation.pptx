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03" r:id="rId4"/>
  </p:sldMasterIdLst>
  <p:notesMasterIdLst>
    <p:notesMasterId r:id="rId34"/>
  </p:notesMasterIdLst>
  <p:handoutMasterIdLst>
    <p:handoutMasterId r:id="rId35"/>
  </p:handoutMasterIdLst>
  <p:sldIdLst>
    <p:sldId id="2141412531" r:id="rId5"/>
    <p:sldId id="2141412589" r:id="rId6"/>
    <p:sldId id="2141412590" r:id="rId7"/>
    <p:sldId id="2141412597" r:id="rId8"/>
    <p:sldId id="2141412593" r:id="rId9"/>
    <p:sldId id="2141412610" r:id="rId10"/>
    <p:sldId id="2141412592" r:id="rId11"/>
    <p:sldId id="2141412604" r:id="rId12"/>
    <p:sldId id="2141412607" r:id="rId13"/>
    <p:sldId id="2141412608" r:id="rId14"/>
    <p:sldId id="2141412609" r:id="rId15"/>
    <p:sldId id="2141412596" r:id="rId16"/>
    <p:sldId id="2141412594" r:id="rId17"/>
    <p:sldId id="2141412611" r:id="rId18"/>
    <p:sldId id="2141412612" r:id="rId19"/>
    <p:sldId id="2141412613" r:id="rId20"/>
    <p:sldId id="2141412614" r:id="rId21"/>
    <p:sldId id="2141412619" r:id="rId22"/>
    <p:sldId id="2141412615" r:id="rId23"/>
    <p:sldId id="2141412617" r:id="rId24"/>
    <p:sldId id="2141412595" r:id="rId25"/>
    <p:sldId id="2141412620" r:id="rId26"/>
    <p:sldId id="2141412598" r:id="rId27"/>
    <p:sldId id="2141412586" r:id="rId28"/>
    <p:sldId id="2141412601" r:id="rId29"/>
    <p:sldId id="2141412622" r:id="rId30"/>
    <p:sldId id="2141412600" r:id="rId31"/>
    <p:sldId id="2141412599" r:id="rId32"/>
    <p:sldId id="2141412454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936" userDrawn="1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3744" userDrawn="1">
          <p15:clr>
            <a:srgbClr val="A4A3A4"/>
          </p15:clr>
        </p15:guide>
        <p15:guide id="6" pos="29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ED550F-7204-1131-888D-FD84DB24A965}" name="Cynthia Fonseca" initials="CF" userId="S::Cynthia.Fonseca@viavisolutions.com::acd64195-d781-4e8e-af37-e09efc0d215f" providerId="AD"/>
  <p188:author id="{ECBF8D60-78C7-15C4-5C56-5CC7FC980136}" name="Erika Collins" initials="EC" userId="S::Erika.Collins@viavisolutions.com::45984738-7be0-4265-8120-a78135ee53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9ACD"/>
    <a:srgbClr val="491E88"/>
    <a:srgbClr val="F2F2F2"/>
    <a:srgbClr val="1D7530"/>
    <a:srgbClr val="63CA75"/>
    <a:srgbClr val="006E9D"/>
    <a:srgbClr val="4DC3E9"/>
    <a:srgbClr val="00368D"/>
    <a:srgbClr val="265CB3"/>
    <a:srgbClr val="2F1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80824-A88A-9321-0855-86041C563088}" v="1968" dt="2025-12-07T10:53:06.005"/>
    <p1510:client id="{A13A1597-935F-4434-B1B6-AC95C37847A8}" v="496" dt="2025-12-08T00:26:30.337"/>
    <p1510:client id="{C4C49C5A-911C-ABCE-50EA-6BAF6947D1E6}" v="4973" dt="2025-12-08T02:42:15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rgbClr val="F7F7F7"/>
          </a:solidFill>
        </a:fill>
      </a:tcStyle>
    </a:wholeTbl>
    <a:band1H>
      <a:tcStyle>
        <a:tcBdr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rgbClr val="F2F2F2"/>
          </a:solidFill>
        </a:fill>
      </a:tcStyle>
    </a:band1H>
    <a:band2H>
      <a:tcStyle>
        <a:tcBdr>
          <a:insideV>
            <a:ln w="12700" cmpd="sng">
              <a:solidFill>
                <a:schemeClr val="lt1"/>
              </a:solidFill>
            </a:ln>
          </a:insideV>
        </a:tcBdr>
      </a:tcStyle>
    </a:band2H>
    <a:band1V>
      <a:tcStyle>
        <a:tcBdr/>
        <a:fill>
          <a:solidFill>
            <a:schemeClr val="accent1">
              <a:tint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rgbClr val="F7F7F7"/>
          </a:solidFill>
        </a:fill>
      </a:tcStyle>
    </a:wholeTbl>
    <a:band1H>
      <a:tcStyle>
        <a:tcBdr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rgbClr val="F2F2F2"/>
          </a:solidFill>
        </a:fill>
      </a:tcStyle>
    </a:band1H>
    <a:band2H>
      <a:tcStyle>
        <a:tcBdr>
          <a:insideV>
            <a:ln w="12700" cmpd="sng">
              <a:solidFill>
                <a:schemeClr val="lt1"/>
              </a:solidFill>
            </a:ln>
          </a:insideV>
        </a:tcBdr>
      </a:tcStyle>
    </a:band2H>
    <a:band1V>
      <a:tcStyle>
        <a:tcBdr/>
        <a:fill>
          <a:solidFill>
            <a:schemeClr val="accent2">
              <a:tint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rgbClr val="F7F7F7"/>
          </a:solidFill>
        </a:fill>
      </a:tcStyle>
    </a:wholeTbl>
    <a:band1H>
      <a:tcStyle>
        <a:tcBdr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rgbClr val="F2F2F2"/>
          </a:solidFill>
        </a:fill>
      </a:tcStyle>
    </a:band1H>
    <a:band2H>
      <a:tcStyle>
        <a:tcBdr>
          <a:insideV>
            <a:ln w="12700" cmpd="sng">
              <a:solidFill>
                <a:schemeClr val="lt1"/>
              </a:solidFill>
            </a:ln>
          </a:insideV>
        </a:tcBdr>
      </a:tcStyle>
    </a:band2H>
    <a:band1V>
      <a:tcStyle>
        <a:tcBdr/>
        <a:fill>
          <a:solidFill>
            <a:schemeClr val="accent3">
              <a:tint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rgbClr val="F7F7F7"/>
          </a:solidFill>
        </a:fill>
      </a:tcStyle>
    </a:wholeTbl>
    <a:band1H>
      <a:tcStyle>
        <a:tcBdr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rgbClr val="F2F2F2"/>
          </a:solidFill>
        </a:fill>
      </a:tcStyle>
    </a:band1H>
    <a:band2H>
      <a:tcStyle>
        <a:tcBdr>
          <a:insideV>
            <a:ln w="12700" cmpd="sng">
              <a:solidFill>
                <a:schemeClr val="lt1"/>
              </a:solidFill>
            </a:ln>
          </a:insideV>
        </a:tcBdr>
      </a:tcStyle>
    </a:band2H>
    <a:band1V>
      <a:tcStyle>
        <a:tcBdr/>
        <a:fill>
          <a:solidFill>
            <a:schemeClr val="accent4">
              <a:tint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rgbClr val="F7F7F7"/>
          </a:solidFill>
        </a:fill>
      </a:tcStyle>
    </a:wholeTbl>
    <a:band1H>
      <a:tcStyle>
        <a:tcBdr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rgbClr val="F2F2F2"/>
          </a:solidFill>
        </a:fill>
      </a:tcStyle>
    </a:band1H>
    <a:band2H>
      <a:tcStyle>
        <a:tcBdr>
          <a:insideV>
            <a:ln w="12700" cmpd="sng">
              <a:solidFill>
                <a:schemeClr val="lt1"/>
              </a:solidFill>
            </a:ln>
          </a:insideV>
        </a:tcBdr>
      </a:tcStyle>
    </a:band2H>
    <a:band1V>
      <a:tcStyle>
        <a:tcBdr/>
        <a:fill>
          <a:solidFill>
            <a:schemeClr val="accent5">
              <a:tint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rgbClr val="F7F7F7"/>
          </a:solidFill>
        </a:fill>
      </a:tcStyle>
    </a:wholeTbl>
    <a:band1H>
      <a:tcStyle>
        <a:tcBdr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rgbClr val="F2F2F2"/>
          </a:solidFill>
        </a:fill>
      </a:tcStyle>
    </a:band1H>
    <a:band2H>
      <a:tcStyle>
        <a:tcBdr>
          <a:insideV>
            <a:ln w="12700" cmpd="sng">
              <a:solidFill>
                <a:schemeClr val="lt1"/>
              </a:solidFill>
            </a:ln>
          </a:insideV>
        </a:tcBdr>
      </a:tcStyle>
    </a:band2H>
    <a:band1V>
      <a:tcStyle>
        <a:tcBdr/>
        <a:fill>
          <a:solidFill>
            <a:schemeClr val="accent6">
              <a:tint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936"/>
        <p:guide orient="horz" pos="1620"/>
        <p:guide pos="2880"/>
        <p:guide pos="3744"/>
        <p:guide pos="29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AF618-F171-EA4D-97F7-94E155A23A7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5CDFB-DBE9-7947-8154-514FE3F96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534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6125E-AAC7-0C4E-8DD1-34C02A4632F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45419-39F4-9F46-878F-CA5226409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635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45419-39F4-9F46-878F-CA5226409A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7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45419-39F4-9F46-878F-CA5226409A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0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45419-39F4-9F46-878F-CA5226409A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44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C0633-7204-74C9-5006-08B34D8AB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F56AF-D3A1-586D-CCF2-C6FA2A8CF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F76BE-626C-39F5-7970-D8C45DF1C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ECB3A-729A-AD7C-C890-AC6FF919E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45419-39F4-9F46-878F-CA5226409A5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50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avisolutions.com/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- VIAVI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30791B-CEA9-0930-BF86-D6865E82DDD4}"/>
              </a:ext>
            </a:extLst>
          </p:cNvPr>
          <p:cNvSpPr/>
          <p:nvPr userDrawn="1"/>
        </p:nvSpPr>
        <p:spPr>
          <a:xfrm>
            <a:off x="0" y="4895850"/>
            <a:ext cx="9144000" cy="2476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7" name="med blue to teal">
            <a:extLst>
              <a:ext uri="{FF2B5EF4-FFF2-40B4-BE49-F238E27FC236}">
                <a16:creationId xmlns:a16="http://schemas.microsoft.com/office/drawing/2014/main" id="{0543089F-538A-7897-0668-2892B159595C}"/>
              </a:ext>
            </a:extLst>
          </p:cNvPr>
          <p:cNvSpPr/>
          <p:nvPr userDrawn="1"/>
        </p:nvSpPr>
        <p:spPr>
          <a:xfrm rot="21000000" flipH="1">
            <a:off x="-396879" y="443464"/>
            <a:ext cx="9926765" cy="4304298"/>
          </a:xfrm>
          <a:custGeom>
            <a:avLst/>
            <a:gdLst>
              <a:gd name="connsiteX0" fmla="*/ 0 w 12457967"/>
              <a:gd name="connsiteY0" fmla="*/ 0 h 3718435"/>
              <a:gd name="connsiteX1" fmla="*/ 12457967 w 12457967"/>
              <a:gd name="connsiteY1" fmla="*/ 0 h 3718435"/>
              <a:gd name="connsiteX2" fmla="*/ 12457967 w 12457967"/>
              <a:gd name="connsiteY2" fmla="*/ 3718435 h 3718435"/>
              <a:gd name="connsiteX3" fmla="*/ 0 w 12457967"/>
              <a:gd name="connsiteY3" fmla="*/ 3718435 h 3718435"/>
              <a:gd name="connsiteX4" fmla="*/ 0 w 12457967"/>
              <a:gd name="connsiteY4" fmla="*/ 0 h 3718435"/>
              <a:gd name="connsiteX0" fmla="*/ 0 w 12457967"/>
              <a:gd name="connsiteY0" fmla="*/ 3302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0 w 12457967"/>
              <a:gd name="connsiteY5" fmla="*/ 3302 h 3721737"/>
              <a:gd name="connsiteX0" fmla="*/ 494795 w 12457967"/>
              <a:gd name="connsiteY0" fmla="*/ 242666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494795 w 12457967"/>
              <a:gd name="connsiteY5" fmla="*/ 242666 h 3721737"/>
              <a:gd name="connsiteX0" fmla="*/ 494795 w 12457967"/>
              <a:gd name="connsiteY0" fmla="*/ 239364 h 3718435"/>
              <a:gd name="connsiteX1" fmla="*/ 1819943 w 12457967"/>
              <a:gd name="connsiteY1" fmla="*/ 4950 h 3718435"/>
              <a:gd name="connsiteX2" fmla="*/ 12457967 w 12457967"/>
              <a:gd name="connsiteY2" fmla="*/ 0 h 3718435"/>
              <a:gd name="connsiteX3" fmla="*/ 12457967 w 12457967"/>
              <a:gd name="connsiteY3" fmla="*/ 3718435 h 3718435"/>
              <a:gd name="connsiteX4" fmla="*/ 0 w 12457967"/>
              <a:gd name="connsiteY4" fmla="*/ 3718435 h 3718435"/>
              <a:gd name="connsiteX5" fmla="*/ 494795 w 12457967"/>
              <a:gd name="connsiteY5" fmla="*/ 239364 h 3718435"/>
              <a:gd name="connsiteX0" fmla="*/ 0 w 11963172"/>
              <a:gd name="connsiteY0" fmla="*/ 239364 h 3718435"/>
              <a:gd name="connsiteX1" fmla="*/ 1325148 w 11963172"/>
              <a:gd name="connsiteY1" fmla="*/ 4950 h 3718435"/>
              <a:gd name="connsiteX2" fmla="*/ 11963172 w 11963172"/>
              <a:gd name="connsiteY2" fmla="*/ 0 h 3718435"/>
              <a:gd name="connsiteX3" fmla="*/ 11963172 w 11963172"/>
              <a:gd name="connsiteY3" fmla="*/ 3718435 h 3718435"/>
              <a:gd name="connsiteX4" fmla="*/ 613892 w 11963172"/>
              <a:gd name="connsiteY4" fmla="*/ 3716382 h 3718435"/>
              <a:gd name="connsiteX5" fmla="*/ 0 w 11963172"/>
              <a:gd name="connsiteY5" fmla="*/ 239364 h 3718435"/>
              <a:gd name="connsiteX0" fmla="*/ 0 w 11963172"/>
              <a:gd name="connsiteY0" fmla="*/ 242439 h 3721510"/>
              <a:gd name="connsiteX1" fmla="*/ 1325148 w 11963172"/>
              <a:gd name="connsiteY1" fmla="*/ 8025 h 3721510"/>
              <a:gd name="connsiteX2" fmla="*/ 9250189 w 11963172"/>
              <a:gd name="connsiteY2" fmla="*/ 0 h 3721510"/>
              <a:gd name="connsiteX3" fmla="*/ 11963172 w 11963172"/>
              <a:gd name="connsiteY3" fmla="*/ 3721510 h 3721510"/>
              <a:gd name="connsiteX4" fmla="*/ 613892 w 11963172"/>
              <a:gd name="connsiteY4" fmla="*/ 3719457 h 3721510"/>
              <a:gd name="connsiteX5" fmla="*/ 0 w 11963172"/>
              <a:gd name="connsiteY5" fmla="*/ 242439 h 3721510"/>
              <a:gd name="connsiteX0" fmla="*/ 0 w 9900294"/>
              <a:gd name="connsiteY0" fmla="*/ 242439 h 3724165"/>
              <a:gd name="connsiteX1" fmla="*/ 1325148 w 9900294"/>
              <a:gd name="connsiteY1" fmla="*/ 8025 h 3724165"/>
              <a:gd name="connsiteX2" fmla="*/ 9250189 w 9900294"/>
              <a:gd name="connsiteY2" fmla="*/ 0 h 3724165"/>
              <a:gd name="connsiteX3" fmla="*/ 9900294 w 9900294"/>
              <a:gd name="connsiteY3" fmla="*/ 3724165 h 3724165"/>
              <a:gd name="connsiteX4" fmla="*/ 613892 w 9900294"/>
              <a:gd name="connsiteY4" fmla="*/ 3719457 h 3724165"/>
              <a:gd name="connsiteX5" fmla="*/ 0 w 9900294"/>
              <a:gd name="connsiteY5" fmla="*/ 242439 h 3724165"/>
              <a:gd name="connsiteX0" fmla="*/ 0 w 9900294"/>
              <a:gd name="connsiteY0" fmla="*/ 240233 h 3721959"/>
              <a:gd name="connsiteX1" fmla="*/ 1325148 w 9900294"/>
              <a:gd name="connsiteY1" fmla="*/ 5819 h 3721959"/>
              <a:gd name="connsiteX2" fmla="*/ 9237682 w 9900294"/>
              <a:gd name="connsiteY2" fmla="*/ 0 h 3721959"/>
              <a:gd name="connsiteX3" fmla="*/ 9900294 w 9900294"/>
              <a:gd name="connsiteY3" fmla="*/ 3721959 h 3721959"/>
              <a:gd name="connsiteX4" fmla="*/ 613892 w 9900294"/>
              <a:gd name="connsiteY4" fmla="*/ 3717251 h 3721959"/>
              <a:gd name="connsiteX5" fmla="*/ 0 w 9900294"/>
              <a:gd name="connsiteY5" fmla="*/ 240233 h 3721959"/>
              <a:gd name="connsiteX0" fmla="*/ 0 w 9900294"/>
              <a:gd name="connsiteY0" fmla="*/ 238101 h 3719827"/>
              <a:gd name="connsiteX1" fmla="*/ 1325148 w 9900294"/>
              <a:gd name="connsiteY1" fmla="*/ 3687 h 3719827"/>
              <a:gd name="connsiteX2" fmla="*/ 9252056 w 9900294"/>
              <a:gd name="connsiteY2" fmla="*/ 0 h 3719827"/>
              <a:gd name="connsiteX3" fmla="*/ 9900294 w 9900294"/>
              <a:gd name="connsiteY3" fmla="*/ 3719827 h 3719827"/>
              <a:gd name="connsiteX4" fmla="*/ 613892 w 9900294"/>
              <a:gd name="connsiteY4" fmla="*/ 3715119 h 3719827"/>
              <a:gd name="connsiteX5" fmla="*/ 0 w 9900294"/>
              <a:gd name="connsiteY5" fmla="*/ 238101 h 3719827"/>
              <a:gd name="connsiteX0" fmla="*/ 0 w 9908546"/>
              <a:gd name="connsiteY0" fmla="*/ 238101 h 3715119"/>
              <a:gd name="connsiteX1" fmla="*/ 1325148 w 9908546"/>
              <a:gd name="connsiteY1" fmla="*/ 3687 h 3715119"/>
              <a:gd name="connsiteX2" fmla="*/ 9252056 w 9908546"/>
              <a:gd name="connsiteY2" fmla="*/ 0 h 3715119"/>
              <a:gd name="connsiteX3" fmla="*/ 9908546 w 9908546"/>
              <a:gd name="connsiteY3" fmla="*/ 3713706 h 3715119"/>
              <a:gd name="connsiteX4" fmla="*/ 613892 w 9908546"/>
              <a:gd name="connsiteY4" fmla="*/ 3715119 h 3715119"/>
              <a:gd name="connsiteX5" fmla="*/ 0 w 9908546"/>
              <a:gd name="connsiteY5" fmla="*/ 238101 h 3715119"/>
              <a:gd name="connsiteX0" fmla="*/ 0 w 9908546"/>
              <a:gd name="connsiteY0" fmla="*/ 238101 h 3714613"/>
              <a:gd name="connsiteX1" fmla="*/ 1325148 w 9908546"/>
              <a:gd name="connsiteY1" fmla="*/ 3687 h 3714613"/>
              <a:gd name="connsiteX2" fmla="*/ 9252056 w 9908546"/>
              <a:gd name="connsiteY2" fmla="*/ 0 h 3714613"/>
              <a:gd name="connsiteX3" fmla="*/ 9908546 w 9908546"/>
              <a:gd name="connsiteY3" fmla="*/ 3713706 h 3714613"/>
              <a:gd name="connsiteX4" fmla="*/ 616760 w 9908546"/>
              <a:gd name="connsiteY4" fmla="*/ 3714613 h 3714613"/>
              <a:gd name="connsiteX5" fmla="*/ 0 w 9908546"/>
              <a:gd name="connsiteY5" fmla="*/ 238101 h 3714613"/>
              <a:gd name="connsiteX0" fmla="*/ 0 w 9908546"/>
              <a:gd name="connsiteY0" fmla="*/ 241092 h 3717604"/>
              <a:gd name="connsiteX1" fmla="*/ 2565716 w 9908546"/>
              <a:gd name="connsiteY1" fmla="*/ 0 h 3717604"/>
              <a:gd name="connsiteX2" fmla="*/ 9252056 w 9908546"/>
              <a:gd name="connsiteY2" fmla="*/ 2991 h 3717604"/>
              <a:gd name="connsiteX3" fmla="*/ 9908546 w 9908546"/>
              <a:gd name="connsiteY3" fmla="*/ 3716697 h 3717604"/>
              <a:gd name="connsiteX4" fmla="*/ 616760 w 9908546"/>
              <a:gd name="connsiteY4" fmla="*/ 3717604 h 3717604"/>
              <a:gd name="connsiteX5" fmla="*/ 0 w 9908546"/>
              <a:gd name="connsiteY5" fmla="*/ 241092 h 3717604"/>
              <a:gd name="connsiteX0" fmla="*/ 43522 w 9291786"/>
              <a:gd name="connsiteY0" fmla="*/ 334179 h 3717604"/>
              <a:gd name="connsiteX1" fmla="*/ 1948956 w 9291786"/>
              <a:gd name="connsiteY1" fmla="*/ 0 h 3717604"/>
              <a:gd name="connsiteX2" fmla="*/ 8635296 w 9291786"/>
              <a:gd name="connsiteY2" fmla="*/ 2991 h 3717604"/>
              <a:gd name="connsiteX3" fmla="*/ 9291786 w 9291786"/>
              <a:gd name="connsiteY3" fmla="*/ 3716697 h 3717604"/>
              <a:gd name="connsiteX4" fmla="*/ 0 w 9291786"/>
              <a:gd name="connsiteY4" fmla="*/ 3717604 h 3717604"/>
              <a:gd name="connsiteX5" fmla="*/ 43522 w 9291786"/>
              <a:gd name="connsiteY5" fmla="*/ 334179 h 3717604"/>
              <a:gd name="connsiteX0" fmla="*/ 43958 w 9291786"/>
              <a:gd name="connsiteY0" fmla="*/ 336657 h 3717604"/>
              <a:gd name="connsiteX1" fmla="*/ 1948956 w 9291786"/>
              <a:gd name="connsiteY1" fmla="*/ 0 h 3717604"/>
              <a:gd name="connsiteX2" fmla="*/ 8635296 w 9291786"/>
              <a:gd name="connsiteY2" fmla="*/ 2991 h 3717604"/>
              <a:gd name="connsiteX3" fmla="*/ 9291786 w 9291786"/>
              <a:gd name="connsiteY3" fmla="*/ 3716697 h 3717604"/>
              <a:gd name="connsiteX4" fmla="*/ 0 w 9291786"/>
              <a:gd name="connsiteY4" fmla="*/ 3717604 h 3717604"/>
              <a:gd name="connsiteX5" fmla="*/ 43958 w 9291786"/>
              <a:gd name="connsiteY5" fmla="*/ 336657 h 3717604"/>
              <a:gd name="connsiteX0" fmla="*/ 0 w 9247828"/>
              <a:gd name="connsiteY0" fmla="*/ 336657 h 3719150"/>
              <a:gd name="connsiteX1" fmla="*/ 1904998 w 9247828"/>
              <a:gd name="connsiteY1" fmla="*/ 0 h 3719150"/>
              <a:gd name="connsiteX2" fmla="*/ 8591338 w 9247828"/>
              <a:gd name="connsiteY2" fmla="*/ 2991 h 3719150"/>
              <a:gd name="connsiteX3" fmla="*/ 9247828 w 9247828"/>
              <a:gd name="connsiteY3" fmla="*/ 3716697 h 3719150"/>
              <a:gd name="connsiteX4" fmla="*/ 584853 w 9247828"/>
              <a:gd name="connsiteY4" fmla="*/ 3719150 h 3719150"/>
              <a:gd name="connsiteX5" fmla="*/ 0 w 9247828"/>
              <a:gd name="connsiteY5" fmla="*/ 336657 h 3719150"/>
              <a:gd name="connsiteX0" fmla="*/ 0 w 9247828"/>
              <a:gd name="connsiteY0" fmla="*/ 336658 h 3719150"/>
              <a:gd name="connsiteX1" fmla="*/ 1904998 w 9247828"/>
              <a:gd name="connsiteY1" fmla="*/ 0 h 3719150"/>
              <a:gd name="connsiteX2" fmla="*/ 8591338 w 9247828"/>
              <a:gd name="connsiteY2" fmla="*/ 2991 h 3719150"/>
              <a:gd name="connsiteX3" fmla="*/ 9247828 w 9247828"/>
              <a:gd name="connsiteY3" fmla="*/ 3716697 h 3719150"/>
              <a:gd name="connsiteX4" fmla="*/ 584853 w 9247828"/>
              <a:gd name="connsiteY4" fmla="*/ 3719150 h 3719150"/>
              <a:gd name="connsiteX5" fmla="*/ 0 w 9247828"/>
              <a:gd name="connsiteY5" fmla="*/ 336658 h 3719150"/>
              <a:gd name="connsiteX0" fmla="*/ 0 w 9253221"/>
              <a:gd name="connsiteY0" fmla="*/ 335054 h 3719150"/>
              <a:gd name="connsiteX1" fmla="*/ 1910391 w 9253221"/>
              <a:gd name="connsiteY1" fmla="*/ 0 h 3719150"/>
              <a:gd name="connsiteX2" fmla="*/ 8596731 w 9253221"/>
              <a:gd name="connsiteY2" fmla="*/ 2991 h 3719150"/>
              <a:gd name="connsiteX3" fmla="*/ 9253221 w 9253221"/>
              <a:gd name="connsiteY3" fmla="*/ 3716697 h 3719150"/>
              <a:gd name="connsiteX4" fmla="*/ 590246 w 9253221"/>
              <a:gd name="connsiteY4" fmla="*/ 3719150 h 3719150"/>
              <a:gd name="connsiteX5" fmla="*/ 0 w 9253221"/>
              <a:gd name="connsiteY5" fmla="*/ 335054 h 3719150"/>
              <a:gd name="connsiteX0" fmla="*/ 0 w 9253221"/>
              <a:gd name="connsiteY0" fmla="*/ 335054 h 3719150"/>
              <a:gd name="connsiteX1" fmla="*/ 1910391 w 9253221"/>
              <a:gd name="connsiteY1" fmla="*/ 0 h 3719150"/>
              <a:gd name="connsiteX2" fmla="*/ 7966902 w 9253221"/>
              <a:gd name="connsiteY2" fmla="*/ 14649 h 3719150"/>
              <a:gd name="connsiteX3" fmla="*/ 9253221 w 9253221"/>
              <a:gd name="connsiteY3" fmla="*/ 3716697 h 3719150"/>
              <a:gd name="connsiteX4" fmla="*/ 590246 w 9253221"/>
              <a:gd name="connsiteY4" fmla="*/ 3719150 h 3719150"/>
              <a:gd name="connsiteX5" fmla="*/ 0 w 9253221"/>
              <a:gd name="connsiteY5" fmla="*/ 335054 h 3719150"/>
              <a:gd name="connsiteX0" fmla="*/ 0 w 9253221"/>
              <a:gd name="connsiteY0" fmla="*/ 335054 h 3719150"/>
              <a:gd name="connsiteX1" fmla="*/ 1910391 w 9253221"/>
              <a:gd name="connsiteY1" fmla="*/ 0 h 3719150"/>
              <a:gd name="connsiteX2" fmla="*/ 7966902 w 9253221"/>
              <a:gd name="connsiteY2" fmla="*/ 14649 h 3719150"/>
              <a:gd name="connsiteX3" fmla="*/ 9253221 w 9253221"/>
              <a:gd name="connsiteY3" fmla="*/ 3716697 h 3719150"/>
              <a:gd name="connsiteX4" fmla="*/ 6499523 w 9253221"/>
              <a:gd name="connsiteY4" fmla="*/ 3714974 h 3719150"/>
              <a:gd name="connsiteX5" fmla="*/ 590246 w 9253221"/>
              <a:gd name="connsiteY5" fmla="*/ 3719150 h 3719150"/>
              <a:gd name="connsiteX6" fmla="*/ 0 w 9253221"/>
              <a:gd name="connsiteY6" fmla="*/ 335054 h 3719150"/>
              <a:gd name="connsiteX0" fmla="*/ 0 w 8579699"/>
              <a:gd name="connsiteY0" fmla="*/ 335054 h 3719150"/>
              <a:gd name="connsiteX1" fmla="*/ 1910391 w 8579699"/>
              <a:gd name="connsiteY1" fmla="*/ 0 h 3719150"/>
              <a:gd name="connsiteX2" fmla="*/ 7966902 w 8579699"/>
              <a:gd name="connsiteY2" fmla="*/ 14649 h 3719150"/>
              <a:gd name="connsiteX3" fmla="*/ 8579699 w 8579699"/>
              <a:gd name="connsiteY3" fmla="*/ 3359769 h 3719150"/>
              <a:gd name="connsiteX4" fmla="*/ 6499523 w 8579699"/>
              <a:gd name="connsiteY4" fmla="*/ 3714974 h 3719150"/>
              <a:gd name="connsiteX5" fmla="*/ 590246 w 8579699"/>
              <a:gd name="connsiteY5" fmla="*/ 3719150 h 3719150"/>
              <a:gd name="connsiteX6" fmla="*/ 0 w 8579699"/>
              <a:gd name="connsiteY6" fmla="*/ 335054 h 3719150"/>
              <a:gd name="connsiteX0" fmla="*/ 0 w 8577270"/>
              <a:gd name="connsiteY0" fmla="*/ 335054 h 3719150"/>
              <a:gd name="connsiteX1" fmla="*/ 1910391 w 8577270"/>
              <a:gd name="connsiteY1" fmla="*/ 0 h 3719150"/>
              <a:gd name="connsiteX2" fmla="*/ 7966902 w 8577270"/>
              <a:gd name="connsiteY2" fmla="*/ 14649 h 3719150"/>
              <a:gd name="connsiteX3" fmla="*/ 8577270 w 8577270"/>
              <a:gd name="connsiteY3" fmla="*/ 3345996 h 3719150"/>
              <a:gd name="connsiteX4" fmla="*/ 6499523 w 8577270"/>
              <a:gd name="connsiteY4" fmla="*/ 3714974 h 3719150"/>
              <a:gd name="connsiteX5" fmla="*/ 590246 w 8577270"/>
              <a:gd name="connsiteY5" fmla="*/ 3719150 h 3719150"/>
              <a:gd name="connsiteX6" fmla="*/ 0 w 8577270"/>
              <a:gd name="connsiteY6" fmla="*/ 335054 h 37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77270" h="3719150">
                <a:moveTo>
                  <a:pt x="0" y="335054"/>
                </a:moveTo>
                <a:lnTo>
                  <a:pt x="1910391" y="0"/>
                </a:lnTo>
                <a:lnTo>
                  <a:pt x="7966902" y="14649"/>
                </a:lnTo>
                <a:lnTo>
                  <a:pt x="8577270" y="3345996"/>
                </a:lnTo>
                <a:lnTo>
                  <a:pt x="6499523" y="3714974"/>
                </a:lnTo>
                <a:lnTo>
                  <a:pt x="590246" y="3719150"/>
                </a:lnTo>
                <a:lnTo>
                  <a:pt x="0" y="335054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8" name="light blue to purple">
            <a:extLst>
              <a:ext uri="{FF2B5EF4-FFF2-40B4-BE49-F238E27FC236}">
                <a16:creationId xmlns:a16="http://schemas.microsoft.com/office/drawing/2014/main" id="{ABE4C3D6-50A2-8CB2-0B9E-C6D2446DC0A8}"/>
              </a:ext>
            </a:extLst>
          </p:cNvPr>
          <p:cNvSpPr>
            <a:spLocks/>
          </p:cNvSpPr>
          <p:nvPr userDrawn="1"/>
        </p:nvSpPr>
        <p:spPr>
          <a:xfrm rot="600000">
            <a:off x="-383931" y="442335"/>
            <a:ext cx="9913741" cy="4304025"/>
          </a:xfrm>
          <a:custGeom>
            <a:avLst/>
            <a:gdLst>
              <a:gd name="connsiteX0" fmla="*/ 0 w 12457967"/>
              <a:gd name="connsiteY0" fmla="*/ 0 h 3718435"/>
              <a:gd name="connsiteX1" fmla="*/ 12457967 w 12457967"/>
              <a:gd name="connsiteY1" fmla="*/ 0 h 3718435"/>
              <a:gd name="connsiteX2" fmla="*/ 12457967 w 12457967"/>
              <a:gd name="connsiteY2" fmla="*/ 3718435 h 3718435"/>
              <a:gd name="connsiteX3" fmla="*/ 0 w 12457967"/>
              <a:gd name="connsiteY3" fmla="*/ 3718435 h 3718435"/>
              <a:gd name="connsiteX4" fmla="*/ 0 w 12457967"/>
              <a:gd name="connsiteY4" fmla="*/ 0 h 3718435"/>
              <a:gd name="connsiteX0" fmla="*/ 0 w 12457967"/>
              <a:gd name="connsiteY0" fmla="*/ 3302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0 w 12457967"/>
              <a:gd name="connsiteY5" fmla="*/ 3302 h 3721737"/>
              <a:gd name="connsiteX0" fmla="*/ 494795 w 12457967"/>
              <a:gd name="connsiteY0" fmla="*/ 242666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494795 w 12457967"/>
              <a:gd name="connsiteY5" fmla="*/ 242666 h 3721737"/>
              <a:gd name="connsiteX0" fmla="*/ 494795 w 12457967"/>
              <a:gd name="connsiteY0" fmla="*/ 239364 h 3718435"/>
              <a:gd name="connsiteX1" fmla="*/ 1819943 w 12457967"/>
              <a:gd name="connsiteY1" fmla="*/ 4950 h 3718435"/>
              <a:gd name="connsiteX2" fmla="*/ 12457967 w 12457967"/>
              <a:gd name="connsiteY2" fmla="*/ 0 h 3718435"/>
              <a:gd name="connsiteX3" fmla="*/ 12457967 w 12457967"/>
              <a:gd name="connsiteY3" fmla="*/ 3718435 h 3718435"/>
              <a:gd name="connsiteX4" fmla="*/ 0 w 12457967"/>
              <a:gd name="connsiteY4" fmla="*/ 3718435 h 3718435"/>
              <a:gd name="connsiteX5" fmla="*/ 494795 w 12457967"/>
              <a:gd name="connsiteY5" fmla="*/ 239364 h 3718435"/>
              <a:gd name="connsiteX0" fmla="*/ 0 w 11963172"/>
              <a:gd name="connsiteY0" fmla="*/ 239364 h 3718435"/>
              <a:gd name="connsiteX1" fmla="*/ 1325148 w 11963172"/>
              <a:gd name="connsiteY1" fmla="*/ 4950 h 3718435"/>
              <a:gd name="connsiteX2" fmla="*/ 11963172 w 11963172"/>
              <a:gd name="connsiteY2" fmla="*/ 0 h 3718435"/>
              <a:gd name="connsiteX3" fmla="*/ 11963172 w 11963172"/>
              <a:gd name="connsiteY3" fmla="*/ 3718435 h 3718435"/>
              <a:gd name="connsiteX4" fmla="*/ 613892 w 11963172"/>
              <a:gd name="connsiteY4" fmla="*/ 3716382 h 3718435"/>
              <a:gd name="connsiteX5" fmla="*/ 0 w 11963172"/>
              <a:gd name="connsiteY5" fmla="*/ 239364 h 3718435"/>
              <a:gd name="connsiteX0" fmla="*/ 0 w 11963172"/>
              <a:gd name="connsiteY0" fmla="*/ 242439 h 3721510"/>
              <a:gd name="connsiteX1" fmla="*/ 1325148 w 11963172"/>
              <a:gd name="connsiteY1" fmla="*/ 8025 h 3721510"/>
              <a:gd name="connsiteX2" fmla="*/ 9250189 w 11963172"/>
              <a:gd name="connsiteY2" fmla="*/ 0 h 3721510"/>
              <a:gd name="connsiteX3" fmla="*/ 11963172 w 11963172"/>
              <a:gd name="connsiteY3" fmla="*/ 3721510 h 3721510"/>
              <a:gd name="connsiteX4" fmla="*/ 613892 w 11963172"/>
              <a:gd name="connsiteY4" fmla="*/ 3719457 h 3721510"/>
              <a:gd name="connsiteX5" fmla="*/ 0 w 11963172"/>
              <a:gd name="connsiteY5" fmla="*/ 242439 h 3721510"/>
              <a:gd name="connsiteX0" fmla="*/ 0 w 9900294"/>
              <a:gd name="connsiteY0" fmla="*/ 242439 h 3724165"/>
              <a:gd name="connsiteX1" fmla="*/ 1325148 w 9900294"/>
              <a:gd name="connsiteY1" fmla="*/ 8025 h 3724165"/>
              <a:gd name="connsiteX2" fmla="*/ 9250189 w 9900294"/>
              <a:gd name="connsiteY2" fmla="*/ 0 h 3724165"/>
              <a:gd name="connsiteX3" fmla="*/ 9900294 w 9900294"/>
              <a:gd name="connsiteY3" fmla="*/ 3724165 h 3724165"/>
              <a:gd name="connsiteX4" fmla="*/ 613892 w 9900294"/>
              <a:gd name="connsiteY4" fmla="*/ 3719457 h 3724165"/>
              <a:gd name="connsiteX5" fmla="*/ 0 w 9900294"/>
              <a:gd name="connsiteY5" fmla="*/ 242439 h 3724165"/>
              <a:gd name="connsiteX0" fmla="*/ 0 w 9900294"/>
              <a:gd name="connsiteY0" fmla="*/ 240233 h 3721959"/>
              <a:gd name="connsiteX1" fmla="*/ 1325148 w 9900294"/>
              <a:gd name="connsiteY1" fmla="*/ 5819 h 3721959"/>
              <a:gd name="connsiteX2" fmla="*/ 9237682 w 9900294"/>
              <a:gd name="connsiteY2" fmla="*/ 0 h 3721959"/>
              <a:gd name="connsiteX3" fmla="*/ 9900294 w 9900294"/>
              <a:gd name="connsiteY3" fmla="*/ 3721959 h 3721959"/>
              <a:gd name="connsiteX4" fmla="*/ 613892 w 9900294"/>
              <a:gd name="connsiteY4" fmla="*/ 3717251 h 3721959"/>
              <a:gd name="connsiteX5" fmla="*/ 0 w 9900294"/>
              <a:gd name="connsiteY5" fmla="*/ 240233 h 3721959"/>
              <a:gd name="connsiteX0" fmla="*/ 0 w 9900294"/>
              <a:gd name="connsiteY0" fmla="*/ 238101 h 3719827"/>
              <a:gd name="connsiteX1" fmla="*/ 1325148 w 9900294"/>
              <a:gd name="connsiteY1" fmla="*/ 3687 h 3719827"/>
              <a:gd name="connsiteX2" fmla="*/ 9252056 w 9900294"/>
              <a:gd name="connsiteY2" fmla="*/ 0 h 3719827"/>
              <a:gd name="connsiteX3" fmla="*/ 9900294 w 9900294"/>
              <a:gd name="connsiteY3" fmla="*/ 3719827 h 3719827"/>
              <a:gd name="connsiteX4" fmla="*/ 613892 w 9900294"/>
              <a:gd name="connsiteY4" fmla="*/ 3715119 h 3719827"/>
              <a:gd name="connsiteX5" fmla="*/ 0 w 9900294"/>
              <a:gd name="connsiteY5" fmla="*/ 238101 h 3719827"/>
              <a:gd name="connsiteX0" fmla="*/ 0 w 9908546"/>
              <a:gd name="connsiteY0" fmla="*/ 238101 h 3715119"/>
              <a:gd name="connsiteX1" fmla="*/ 1325148 w 9908546"/>
              <a:gd name="connsiteY1" fmla="*/ 3687 h 3715119"/>
              <a:gd name="connsiteX2" fmla="*/ 9252056 w 9908546"/>
              <a:gd name="connsiteY2" fmla="*/ 0 h 3715119"/>
              <a:gd name="connsiteX3" fmla="*/ 9908546 w 9908546"/>
              <a:gd name="connsiteY3" fmla="*/ 3713706 h 3715119"/>
              <a:gd name="connsiteX4" fmla="*/ 613892 w 9908546"/>
              <a:gd name="connsiteY4" fmla="*/ 3715119 h 3715119"/>
              <a:gd name="connsiteX5" fmla="*/ 0 w 9908546"/>
              <a:gd name="connsiteY5" fmla="*/ 238101 h 3715119"/>
              <a:gd name="connsiteX0" fmla="*/ 0 w 9908546"/>
              <a:gd name="connsiteY0" fmla="*/ 238101 h 3714613"/>
              <a:gd name="connsiteX1" fmla="*/ 1325148 w 9908546"/>
              <a:gd name="connsiteY1" fmla="*/ 3687 h 3714613"/>
              <a:gd name="connsiteX2" fmla="*/ 9252056 w 9908546"/>
              <a:gd name="connsiteY2" fmla="*/ 0 h 3714613"/>
              <a:gd name="connsiteX3" fmla="*/ 9908546 w 9908546"/>
              <a:gd name="connsiteY3" fmla="*/ 3713706 h 3714613"/>
              <a:gd name="connsiteX4" fmla="*/ 616760 w 9908546"/>
              <a:gd name="connsiteY4" fmla="*/ 3714613 h 3714613"/>
              <a:gd name="connsiteX5" fmla="*/ 0 w 9908546"/>
              <a:gd name="connsiteY5" fmla="*/ 238101 h 3714613"/>
              <a:gd name="connsiteX0" fmla="*/ 0 w 9908546"/>
              <a:gd name="connsiteY0" fmla="*/ 238190 h 3714702"/>
              <a:gd name="connsiteX1" fmla="*/ 1325148 w 9908546"/>
              <a:gd name="connsiteY1" fmla="*/ 3776 h 3714702"/>
              <a:gd name="connsiteX2" fmla="*/ 8612723 w 9908546"/>
              <a:gd name="connsiteY2" fmla="*/ 0 h 3714702"/>
              <a:gd name="connsiteX3" fmla="*/ 9908546 w 9908546"/>
              <a:gd name="connsiteY3" fmla="*/ 3713795 h 3714702"/>
              <a:gd name="connsiteX4" fmla="*/ 616760 w 9908546"/>
              <a:gd name="connsiteY4" fmla="*/ 3714702 h 3714702"/>
              <a:gd name="connsiteX5" fmla="*/ 0 w 9908546"/>
              <a:gd name="connsiteY5" fmla="*/ 238190 h 3714702"/>
              <a:gd name="connsiteX0" fmla="*/ 0 w 9908546"/>
              <a:gd name="connsiteY0" fmla="*/ 239630 h 3716142"/>
              <a:gd name="connsiteX1" fmla="*/ 2532368 w 9908546"/>
              <a:gd name="connsiteY1" fmla="*/ 0 h 3716142"/>
              <a:gd name="connsiteX2" fmla="*/ 8612723 w 9908546"/>
              <a:gd name="connsiteY2" fmla="*/ 1440 h 3716142"/>
              <a:gd name="connsiteX3" fmla="*/ 9908546 w 9908546"/>
              <a:gd name="connsiteY3" fmla="*/ 3715235 h 3716142"/>
              <a:gd name="connsiteX4" fmla="*/ 616760 w 9908546"/>
              <a:gd name="connsiteY4" fmla="*/ 3716142 h 3716142"/>
              <a:gd name="connsiteX5" fmla="*/ 0 w 9908546"/>
              <a:gd name="connsiteY5" fmla="*/ 239630 h 3716142"/>
              <a:gd name="connsiteX0" fmla="*/ 51990 w 9291786"/>
              <a:gd name="connsiteY0" fmla="*/ 338800 h 3716142"/>
              <a:gd name="connsiteX1" fmla="*/ 1915608 w 9291786"/>
              <a:gd name="connsiteY1" fmla="*/ 0 h 3716142"/>
              <a:gd name="connsiteX2" fmla="*/ 7995963 w 9291786"/>
              <a:gd name="connsiteY2" fmla="*/ 1440 h 3716142"/>
              <a:gd name="connsiteX3" fmla="*/ 9291786 w 9291786"/>
              <a:gd name="connsiteY3" fmla="*/ 3715235 h 3716142"/>
              <a:gd name="connsiteX4" fmla="*/ 0 w 9291786"/>
              <a:gd name="connsiteY4" fmla="*/ 3716142 h 3716142"/>
              <a:gd name="connsiteX5" fmla="*/ 51990 w 9291786"/>
              <a:gd name="connsiteY5" fmla="*/ 338800 h 3716142"/>
              <a:gd name="connsiteX0" fmla="*/ 0 w 9239796"/>
              <a:gd name="connsiteY0" fmla="*/ 338800 h 3719460"/>
              <a:gd name="connsiteX1" fmla="*/ 1863618 w 9239796"/>
              <a:gd name="connsiteY1" fmla="*/ 0 h 3719460"/>
              <a:gd name="connsiteX2" fmla="*/ 7943973 w 9239796"/>
              <a:gd name="connsiteY2" fmla="*/ 1440 h 3719460"/>
              <a:gd name="connsiteX3" fmla="*/ 9239796 w 9239796"/>
              <a:gd name="connsiteY3" fmla="*/ 3715235 h 3719460"/>
              <a:gd name="connsiteX4" fmla="*/ 571542 w 9239796"/>
              <a:gd name="connsiteY4" fmla="*/ 3719460 h 3719460"/>
              <a:gd name="connsiteX5" fmla="*/ 0 w 9239796"/>
              <a:gd name="connsiteY5" fmla="*/ 338800 h 3719460"/>
              <a:gd name="connsiteX0" fmla="*/ 0 w 9262536"/>
              <a:gd name="connsiteY0" fmla="*/ 340255 h 3719460"/>
              <a:gd name="connsiteX1" fmla="*/ 1886358 w 9262536"/>
              <a:gd name="connsiteY1" fmla="*/ 0 h 3719460"/>
              <a:gd name="connsiteX2" fmla="*/ 7966713 w 9262536"/>
              <a:gd name="connsiteY2" fmla="*/ 1440 h 3719460"/>
              <a:gd name="connsiteX3" fmla="*/ 9262536 w 9262536"/>
              <a:gd name="connsiteY3" fmla="*/ 3715235 h 3719460"/>
              <a:gd name="connsiteX4" fmla="*/ 594282 w 9262536"/>
              <a:gd name="connsiteY4" fmla="*/ 3719460 h 3719460"/>
              <a:gd name="connsiteX5" fmla="*/ 0 w 9262536"/>
              <a:gd name="connsiteY5" fmla="*/ 340255 h 3719460"/>
              <a:gd name="connsiteX0" fmla="*/ 0 w 9262536"/>
              <a:gd name="connsiteY0" fmla="*/ 338815 h 3718020"/>
              <a:gd name="connsiteX1" fmla="*/ 1893061 w 9262536"/>
              <a:gd name="connsiteY1" fmla="*/ 7598 h 3718020"/>
              <a:gd name="connsiteX2" fmla="*/ 7966713 w 9262536"/>
              <a:gd name="connsiteY2" fmla="*/ 0 h 3718020"/>
              <a:gd name="connsiteX3" fmla="*/ 9262536 w 9262536"/>
              <a:gd name="connsiteY3" fmla="*/ 3713795 h 3718020"/>
              <a:gd name="connsiteX4" fmla="*/ 594282 w 9262536"/>
              <a:gd name="connsiteY4" fmla="*/ 3718020 h 3718020"/>
              <a:gd name="connsiteX5" fmla="*/ 0 w 9262536"/>
              <a:gd name="connsiteY5" fmla="*/ 338815 h 3718020"/>
              <a:gd name="connsiteX0" fmla="*/ 0 w 9262536"/>
              <a:gd name="connsiteY0" fmla="*/ 338815 h 3718020"/>
              <a:gd name="connsiteX1" fmla="*/ 1892188 w 9262536"/>
              <a:gd name="connsiteY1" fmla="*/ 2643 h 3718020"/>
              <a:gd name="connsiteX2" fmla="*/ 7966713 w 9262536"/>
              <a:gd name="connsiteY2" fmla="*/ 0 h 3718020"/>
              <a:gd name="connsiteX3" fmla="*/ 9262536 w 9262536"/>
              <a:gd name="connsiteY3" fmla="*/ 3713795 h 3718020"/>
              <a:gd name="connsiteX4" fmla="*/ 594282 w 9262536"/>
              <a:gd name="connsiteY4" fmla="*/ 3718020 h 3718020"/>
              <a:gd name="connsiteX5" fmla="*/ 0 w 9262536"/>
              <a:gd name="connsiteY5" fmla="*/ 338815 h 3718020"/>
              <a:gd name="connsiteX0" fmla="*/ 0 w 9262536"/>
              <a:gd name="connsiteY0" fmla="*/ 338815 h 3718914"/>
              <a:gd name="connsiteX1" fmla="*/ 1892188 w 9262536"/>
              <a:gd name="connsiteY1" fmla="*/ 2643 h 3718914"/>
              <a:gd name="connsiteX2" fmla="*/ 7966713 w 9262536"/>
              <a:gd name="connsiteY2" fmla="*/ 0 h 3718914"/>
              <a:gd name="connsiteX3" fmla="*/ 9262536 w 9262536"/>
              <a:gd name="connsiteY3" fmla="*/ 3713795 h 3718914"/>
              <a:gd name="connsiteX4" fmla="*/ 6414665 w 9262536"/>
              <a:gd name="connsiteY4" fmla="*/ 3718914 h 3718914"/>
              <a:gd name="connsiteX5" fmla="*/ 594282 w 9262536"/>
              <a:gd name="connsiteY5" fmla="*/ 3718020 h 3718914"/>
              <a:gd name="connsiteX6" fmla="*/ 0 w 9262536"/>
              <a:gd name="connsiteY6" fmla="*/ 338815 h 3718914"/>
              <a:gd name="connsiteX0" fmla="*/ 0 w 8565624"/>
              <a:gd name="connsiteY0" fmla="*/ 338815 h 3718914"/>
              <a:gd name="connsiteX1" fmla="*/ 1892188 w 8565624"/>
              <a:gd name="connsiteY1" fmla="*/ 2643 h 3718914"/>
              <a:gd name="connsiteX2" fmla="*/ 7966713 w 8565624"/>
              <a:gd name="connsiteY2" fmla="*/ 0 h 3718914"/>
              <a:gd name="connsiteX3" fmla="*/ 8565624 w 8565624"/>
              <a:gd name="connsiteY3" fmla="*/ 3341154 h 3718914"/>
              <a:gd name="connsiteX4" fmla="*/ 6414665 w 8565624"/>
              <a:gd name="connsiteY4" fmla="*/ 3718914 h 3718914"/>
              <a:gd name="connsiteX5" fmla="*/ 594282 w 8565624"/>
              <a:gd name="connsiteY5" fmla="*/ 3718020 h 3718914"/>
              <a:gd name="connsiteX6" fmla="*/ 0 w 8565624"/>
              <a:gd name="connsiteY6" fmla="*/ 338815 h 3718914"/>
              <a:gd name="connsiteX0" fmla="*/ 0 w 8566017"/>
              <a:gd name="connsiteY0" fmla="*/ 336585 h 3718914"/>
              <a:gd name="connsiteX1" fmla="*/ 1892581 w 8566017"/>
              <a:gd name="connsiteY1" fmla="*/ 2643 h 3718914"/>
              <a:gd name="connsiteX2" fmla="*/ 7967106 w 8566017"/>
              <a:gd name="connsiteY2" fmla="*/ 0 h 3718914"/>
              <a:gd name="connsiteX3" fmla="*/ 8566017 w 8566017"/>
              <a:gd name="connsiteY3" fmla="*/ 3341154 h 3718914"/>
              <a:gd name="connsiteX4" fmla="*/ 6415058 w 8566017"/>
              <a:gd name="connsiteY4" fmla="*/ 3718914 h 3718914"/>
              <a:gd name="connsiteX5" fmla="*/ 594675 w 8566017"/>
              <a:gd name="connsiteY5" fmla="*/ 3718020 h 3718914"/>
              <a:gd name="connsiteX6" fmla="*/ 0 w 8566017"/>
              <a:gd name="connsiteY6" fmla="*/ 336585 h 371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66017" h="3718914">
                <a:moveTo>
                  <a:pt x="0" y="336585"/>
                </a:moveTo>
                <a:lnTo>
                  <a:pt x="1892581" y="2643"/>
                </a:lnTo>
                <a:lnTo>
                  <a:pt x="7967106" y="0"/>
                </a:lnTo>
                <a:lnTo>
                  <a:pt x="8566017" y="3341154"/>
                </a:lnTo>
                <a:lnTo>
                  <a:pt x="6415058" y="3718914"/>
                </a:lnTo>
                <a:lnTo>
                  <a:pt x="594675" y="3718020"/>
                </a:lnTo>
                <a:lnTo>
                  <a:pt x="0" y="336585"/>
                </a:lnTo>
                <a:close/>
              </a:path>
            </a:pathLst>
          </a:custGeom>
          <a:gradFill>
            <a:gsLst>
              <a:gs pos="98000">
                <a:srgbClr val="00B5EF">
                  <a:alpha val="98000"/>
                </a:srgbClr>
              </a:gs>
              <a:gs pos="75000">
                <a:schemeClr val="accent4">
                  <a:alpha val="65000"/>
                </a:schemeClr>
              </a:gs>
              <a:gs pos="30000">
                <a:schemeClr val="accent1">
                  <a:alpha val="50000"/>
                </a:schemeClr>
              </a:gs>
              <a:gs pos="2000">
                <a:srgbClr val="4B2885"/>
              </a:gs>
            </a:gsLst>
            <a:lin ang="20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6" name="Subhead txt">
            <a:extLst>
              <a:ext uri="{FF2B5EF4-FFF2-40B4-BE49-F238E27FC236}">
                <a16:creationId xmlns:a16="http://schemas.microsoft.com/office/drawing/2014/main" id="{76418850-5F5F-CB7A-701C-2D2679C3A69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371600" y="2898198"/>
            <a:ext cx="6400800" cy="29900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algn="ctr">
              <a:buFontTx/>
              <a:buNone/>
              <a:defRPr lang="en-GB" sz="1800" b="0" dirty="0" smtClean="0">
                <a:solidFill>
                  <a:schemeClr val="bg1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Subtitle Goes Here</a:t>
            </a:r>
          </a:p>
        </p:txBody>
      </p:sp>
      <p:sp>
        <p:nvSpPr>
          <p:cNvPr id="9" name="Title txt">
            <a:extLst>
              <a:ext uri="{FF2B5EF4-FFF2-40B4-BE49-F238E27FC236}">
                <a16:creationId xmlns:a16="http://schemas.microsoft.com/office/drawing/2014/main" id="{0B623396-EE6B-8968-D455-D5D4E153F4C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371600" y="1501991"/>
            <a:ext cx="6400800" cy="137542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ts val="4000"/>
              </a:lnSpc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 hidden="1">
            <a:extLst>
              <a:ext uri="{FF2B5EF4-FFF2-40B4-BE49-F238E27FC236}">
                <a16:creationId xmlns:a16="http://schemas.microsoft.com/office/drawing/2014/main" id="{A8DF5675-6C66-FA05-1578-E5243CE99D4E}"/>
              </a:ext>
            </a:extLst>
          </p:cNvPr>
          <p:cNvCxnSpPr>
            <a:cxnSpLocks/>
          </p:cNvCxnSpPr>
          <p:nvPr userDrawn="1"/>
        </p:nvCxnSpPr>
        <p:spPr>
          <a:xfrm rot="-600000">
            <a:off x="-1712054" y="571712"/>
            <a:ext cx="10744200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hidden="1">
            <a:extLst>
              <a:ext uri="{FF2B5EF4-FFF2-40B4-BE49-F238E27FC236}">
                <a16:creationId xmlns:a16="http://schemas.microsoft.com/office/drawing/2014/main" id="{CE60ACEF-6E79-1C2D-8602-2AD6AA9B92DB}"/>
              </a:ext>
            </a:extLst>
          </p:cNvPr>
          <p:cNvCxnSpPr>
            <a:cxnSpLocks/>
          </p:cNvCxnSpPr>
          <p:nvPr userDrawn="1"/>
        </p:nvCxnSpPr>
        <p:spPr>
          <a:xfrm rot="-600000">
            <a:off x="-763786" y="4772566"/>
            <a:ext cx="10744200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3">
            <a:extLst>
              <a:ext uri="{FF2B5EF4-FFF2-40B4-BE49-F238E27FC236}">
                <a16:creationId xmlns:a16="http://schemas.microsoft.com/office/drawing/2014/main" id="{7642D1EE-2C6B-B425-8AC3-8C5736338E31}"/>
              </a:ext>
            </a:extLst>
          </p:cNvPr>
          <p:cNvSpPr/>
          <p:nvPr userDrawn="1"/>
        </p:nvSpPr>
        <p:spPr>
          <a:xfrm rot="600000" flipH="1">
            <a:off x="2143895" y="-597281"/>
            <a:ext cx="7166793" cy="1224441"/>
          </a:xfrm>
          <a:custGeom>
            <a:avLst/>
            <a:gdLst>
              <a:gd name="connsiteX0" fmla="*/ 0 w 7850459"/>
              <a:gd name="connsiteY0" fmla="*/ 0 h 1212423"/>
              <a:gd name="connsiteX1" fmla="*/ 7850459 w 7850459"/>
              <a:gd name="connsiteY1" fmla="*/ 0 h 1212423"/>
              <a:gd name="connsiteX2" fmla="*/ 7850459 w 7850459"/>
              <a:gd name="connsiteY2" fmla="*/ 1212423 h 1212423"/>
              <a:gd name="connsiteX3" fmla="*/ 0 w 7850459"/>
              <a:gd name="connsiteY3" fmla="*/ 1212423 h 1212423"/>
              <a:gd name="connsiteX4" fmla="*/ 0 w 7850459"/>
              <a:gd name="connsiteY4" fmla="*/ 0 h 1212423"/>
              <a:gd name="connsiteX0" fmla="*/ 942472 w 7850459"/>
              <a:gd name="connsiteY0" fmla="*/ 0 h 1227412"/>
              <a:gd name="connsiteX1" fmla="*/ 7850459 w 7850459"/>
              <a:gd name="connsiteY1" fmla="*/ 14989 h 1227412"/>
              <a:gd name="connsiteX2" fmla="*/ 7850459 w 7850459"/>
              <a:gd name="connsiteY2" fmla="*/ 1227412 h 1227412"/>
              <a:gd name="connsiteX3" fmla="*/ 0 w 7850459"/>
              <a:gd name="connsiteY3" fmla="*/ 1227412 h 1227412"/>
              <a:gd name="connsiteX4" fmla="*/ 942472 w 7850459"/>
              <a:gd name="connsiteY4" fmla="*/ 0 h 1227412"/>
              <a:gd name="connsiteX0" fmla="*/ 227381 w 7135368"/>
              <a:gd name="connsiteY0" fmla="*/ 0 h 1227412"/>
              <a:gd name="connsiteX1" fmla="*/ 7135368 w 7135368"/>
              <a:gd name="connsiteY1" fmla="*/ 14989 h 1227412"/>
              <a:gd name="connsiteX2" fmla="*/ 7135368 w 7135368"/>
              <a:gd name="connsiteY2" fmla="*/ 1227412 h 1227412"/>
              <a:gd name="connsiteX3" fmla="*/ 0 w 7135368"/>
              <a:gd name="connsiteY3" fmla="*/ 1217622 h 1227412"/>
              <a:gd name="connsiteX4" fmla="*/ 227381 w 7135368"/>
              <a:gd name="connsiteY4" fmla="*/ 0 h 1227412"/>
              <a:gd name="connsiteX0" fmla="*/ 227381 w 7135368"/>
              <a:gd name="connsiteY0" fmla="*/ 0 h 1227412"/>
              <a:gd name="connsiteX1" fmla="*/ 7135368 w 7135368"/>
              <a:gd name="connsiteY1" fmla="*/ 1227412 h 1227412"/>
              <a:gd name="connsiteX2" fmla="*/ 0 w 7135368"/>
              <a:gd name="connsiteY2" fmla="*/ 1217622 h 1227412"/>
              <a:gd name="connsiteX3" fmla="*/ 227381 w 7135368"/>
              <a:gd name="connsiteY3" fmla="*/ 0 h 1227412"/>
              <a:gd name="connsiteX0" fmla="*/ 216708 w 7135368"/>
              <a:gd name="connsiteY0" fmla="*/ 0 h 1225829"/>
              <a:gd name="connsiteX1" fmla="*/ 7135368 w 7135368"/>
              <a:gd name="connsiteY1" fmla="*/ 1225829 h 1225829"/>
              <a:gd name="connsiteX2" fmla="*/ 0 w 7135368"/>
              <a:gd name="connsiteY2" fmla="*/ 1216039 h 1225829"/>
              <a:gd name="connsiteX3" fmla="*/ 216708 w 7135368"/>
              <a:gd name="connsiteY3" fmla="*/ 0 h 1225829"/>
              <a:gd name="connsiteX0" fmla="*/ 216708 w 7166793"/>
              <a:gd name="connsiteY0" fmla="*/ 0 h 1224441"/>
              <a:gd name="connsiteX1" fmla="*/ 7166793 w 7166793"/>
              <a:gd name="connsiteY1" fmla="*/ 1224441 h 1224441"/>
              <a:gd name="connsiteX2" fmla="*/ 0 w 7166793"/>
              <a:gd name="connsiteY2" fmla="*/ 1216039 h 1224441"/>
              <a:gd name="connsiteX3" fmla="*/ 216708 w 7166793"/>
              <a:gd name="connsiteY3" fmla="*/ 0 h 12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66793" h="1224441">
                <a:moveTo>
                  <a:pt x="216708" y="0"/>
                </a:moveTo>
                <a:lnTo>
                  <a:pt x="7166793" y="1224441"/>
                </a:lnTo>
                <a:lnTo>
                  <a:pt x="0" y="1216039"/>
                </a:lnTo>
                <a:lnTo>
                  <a:pt x="216708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81675B7-0936-8B26-7AF1-9B35B76003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01639" y="206536"/>
            <a:ext cx="1375322" cy="55997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22236ED0-4989-DB45-D1AE-674EBDF4BC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20748" y="3621100"/>
            <a:ext cx="4102504" cy="28813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algn="ctr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Speaker Name</a:t>
            </a:r>
            <a:endParaRPr lang="en-US"/>
          </a:p>
        </p:txBody>
      </p:sp>
      <p:sp>
        <p:nvSpPr>
          <p:cNvPr id="10" name="Text Placeholder 38">
            <a:extLst>
              <a:ext uri="{FF2B5EF4-FFF2-40B4-BE49-F238E27FC236}">
                <a16:creationId xmlns:a16="http://schemas.microsoft.com/office/drawing/2014/main" id="{2CF34A68-ECAB-9336-5FD3-442F9E94E5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0748" y="3861097"/>
            <a:ext cx="4102504" cy="28813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algn="ctr">
              <a:buFontTx/>
              <a:buNone/>
              <a:defRPr lang="en-GB" sz="1200" b="0" dirty="0" smtClean="0">
                <a:solidFill>
                  <a:schemeClr val="bg1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Speaker Title</a:t>
            </a:r>
          </a:p>
        </p:txBody>
      </p:sp>
      <p:sp>
        <p:nvSpPr>
          <p:cNvPr id="11" name="Text Placeholder 40">
            <a:extLst>
              <a:ext uri="{FF2B5EF4-FFF2-40B4-BE49-F238E27FC236}">
                <a16:creationId xmlns:a16="http://schemas.microsoft.com/office/drawing/2014/main" id="{C129B495-F728-4253-F831-06255837ED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0748" y="4093283"/>
            <a:ext cx="4102504" cy="28813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algn="ctr">
              <a:buFontTx/>
              <a:buNone/>
              <a:defRPr lang="en-GB" sz="1200" b="0" dirty="0" smtClean="0">
                <a:solidFill>
                  <a:schemeClr val="bg1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73929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>
          <p15:clr>
            <a:srgbClr val="FBAE40"/>
          </p15:clr>
        </p15:guide>
        <p15:guide id="3" pos="5760">
          <p15:clr>
            <a:srgbClr val="FBAE40"/>
          </p15:clr>
        </p15:guide>
        <p15:guide id="4" orient="horz" pos="1620">
          <p15:clr>
            <a:srgbClr val="FBAE40"/>
          </p15:clr>
        </p15:guide>
        <p15:guide id="5" orient="horz">
          <p15:clr>
            <a:srgbClr val="FBAE40"/>
          </p15:clr>
        </p15:guide>
        <p15:guide id="6" orient="horz" pos="32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ubhead - gra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D0C53C-3266-D245-B023-683B8C9F6C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62486B-652B-BCA3-5801-481B2730D93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3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52249"/>
          <a:stretch/>
        </p:blipFill>
        <p:spPr>
          <a:xfrm flipH="1">
            <a:off x="1" y="0"/>
            <a:ext cx="9143999" cy="245608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577A366-59DF-6696-611D-747DD60C6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66289"/>
            <a:ext cx="8458200" cy="3657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359C54-CCD1-8A13-165F-8D624FC51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653343"/>
            <a:ext cx="8458200" cy="4134255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182880" indent="-173736"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365760" indent="-173736"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548640" indent="-173736"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3pPr>
            <a:lvl4pPr marL="731520" indent="-173736"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–"/>
              <a:defRPr sz="1050">
                <a:solidFill>
                  <a:schemeClr val="tx1"/>
                </a:solidFill>
              </a:defRPr>
            </a:lvl4pPr>
            <a:lvl5pPr marL="914400" indent="-173736"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B569F0-88A0-673D-4303-7C8D1976DE6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700" y="4931314"/>
            <a:ext cx="547616" cy="139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BCE740-E350-93F3-9FE3-69309EDCEE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B059B-F0B7-5390-FDC7-FA93AB18CF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52249"/>
          <a:stretch/>
        </p:blipFill>
        <p:spPr>
          <a:xfrm flipH="1">
            <a:off x="1" y="0"/>
            <a:ext cx="9143999" cy="245608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FD09D3D-A392-C366-2AAD-E4868C51DD7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700" y="4931314"/>
            <a:ext cx="547616" cy="13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74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30791B-CEA9-0930-BF86-D6865E82DDD4}"/>
              </a:ext>
            </a:extLst>
          </p:cNvPr>
          <p:cNvSpPr/>
          <p:nvPr/>
        </p:nvSpPr>
        <p:spPr>
          <a:xfrm>
            <a:off x="0" y="4895850"/>
            <a:ext cx="9144000" cy="2476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2" name="Picture 1" descr="A white background with triangles&#10;&#10;Description automatically generated">
            <a:extLst>
              <a:ext uri="{FF2B5EF4-FFF2-40B4-BE49-F238E27FC236}">
                <a16:creationId xmlns:a16="http://schemas.microsoft.com/office/drawing/2014/main" id="{ED6AE798-F1C9-B7FF-16C1-131FA5108B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111" y="0"/>
            <a:ext cx="9144000" cy="5143500"/>
          </a:xfrm>
          <a:prstGeom prst="rect">
            <a:avLst/>
          </a:prstGeom>
        </p:spPr>
      </p:pic>
      <p:sp>
        <p:nvSpPr>
          <p:cNvPr id="7" name="med blue to teal">
            <a:extLst>
              <a:ext uri="{FF2B5EF4-FFF2-40B4-BE49-F238E27FC236}">
                <a16:creationId xmlns:a16="http://schemas.microsoft.com/office/drawing/2014/main" id="{0543089F-538A-7897-0668-2892B159595C}"/>
              </a:ext>
            </a:extLst>
          </p:cNvPr>
          <p:cNvSpPr/>
          <p:nvPr/>
        </p:nvSpPr>
        <p:spPr>
          <a:xfrm rot="21000000" flipH="1">
            <a:off x="-404153" y="596803"/>
            <a:ext cx="9908546" cy="3714613"/>
          </a:xfrm>
          <a:custGeom>
            <a:avLst/>
            <a:gdLst>
              <a:gd name="connsiteX0" fmla="*/ 0 w 12457967"/>
              <a:gd name="connsiteY0" fmla="*/ 0 h 3718435"/>
              <a:gd name="connsiteX1" fmla="*/ 12457967 w 12457967"/>
              <a:gd name="connsiteY1" fmla="*/ 0 h 3718435"/>
              <a:gd name="connsiteX2" fmla="*/ 12457967 w 12457967"/>
              <a:gd name="connsiteY2" fmla="*/ 3718435 h 3718435"/>
              <a:gd name="connsiteX3" fmla="*/ 0 w 12457967"/>
              <a:gd name="connsiteY3" fmla="*/ 3718435 h 3718435"/>
              <a:gd name="connsiteX4" fmla="*/ 0 w 12457967"/>
              <a:gd name="connsiteY4" fmla="*/ 0 h 3718435"/>
              <a:gd name="connsiteX0" fmla="*/ 0 w 12457967"/>
              <a:gd name="connsiteY0" fmla="*/ 3302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0 w 12457967"/>
              <a:gd name="connsiteY5" fmla="*/ 3302 h 3721737"/>
              <a:gd name="connsiteX0" fmla="*/ 494795 w 12457967"/>
              <a:gd name="connsiteY0" fmla="*/ 242666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494795 w 12457967"/>
              <a:gd name="connsiteY5" fmla="*/ 242666 h 3721737"/>
              <a:gd name="connsiteX0" fmla="*/ 494795 w 12457967"/>
              <a:gd name="connsiteY0" fmla="*/ 239364 h 3718435"/>
              <a:gd name="connsiteX1" fmla="*/ 1819943 w 12457967"/>
              <a:gd name="connsiteY1" fmla="*/ 4950 h 3718435"/>
              <a:gd name="connsiteX2" fmla="*/ 12457967 w 12457967"/>
              <a:gd name="connsiteY2" fmla="*/ 0 h 3718435"/>
              <a:gd name="connsiteX3" fmla="*/ 12457967 w 12457967"/>
              <a:gd name="connsiteY3" fmla="*/ 3718435 h 3718435"/>
              <a:gd name="connsiteX4" fmla="*/ 0 w 12457967"/>
              <a:gd name="connsiteY4" fmla="*/ 3718435 h 3718435"/>
              <a:gd name="connsiteX5" fmla="*/ 494795 w 12457967"/>
              <a:gd name="connsiteY5" fmla="*/ 239364 h 3718435"/>
              <a:gd name="connsiteX0" fmla="*/ 0 w 11963172"/>
              <a:gd name="connsiteY0" fmla="*/ 239364 h 3718435"/>
              <a:gd name="connsiteX1" fmla="*/ 1325148 w 11963172"/>
              <a:gd name="connsiteY1" fmla="*/ 4950 h 3718435"/>
              <a:gd name="connsiteX2" fmla="*/ 11963172 w 11963172"/>
              <a:gd name="connsiteY2" fmla="*/ 0 h 3718435"/>
              <a:gd name="connsiteX3" fmla="*/ 11963172 w 11963172"/>
              <a:gd name="connsiteY3" fmla="*/ 3718435 h 3718435"/>
              <a:gd name="connsiteX4" fmla="*/ 613892 w 11963172"/>
              <a:gd name="connsiteY4" fmla="*/ 3716382 h 3718435"/>
              <a:gd name="connsiteX5" fmla="*/ 0 w 11963172"/>
              <a:gd name="connsiteY5" fmla="*/ 239364 h 3718435"/>
              <a:gd name="connsiteX0" fmla="*/ 0 w 11963172"/>
              <a:gd name="connsiteY0" fmla="*/ 242439 h 3721510"/>
              <a:gd name="connsiteX1" fmla="*/ 1325148 w 11963172"/>
              <a:gd name="connsiteY1" fmla="*/ 8025 h 3721510"/>
              <a:gd name="connsiteX2" fmla="*/ 9250189 w 11963172"/>
              <a:gd name="connsiteY2" fmla="*/ 0 h 3721510"/>
              <a:gd name="connsiteX3" fmla="*/ 11963172 w 11963172"/>
              <a:gd name="connsiteY3" fmla="*/ 3721510 h 3721510"/>
              <a:gd name="connsiteX4" fmla="*/ 613892 w 11963172"/>
              <a:gd name="connsiteY4" fmla="*/ 3719457 h 3721510"/>
              <a:gd name="connsiteX5" fmla="*/ 0 w 11963172"/>
              <a:gd name="connsiteY5" fmla="*/ 242439 h 3721510"/>
              <a:gd name="connsiteX0" fmla="*/ 0 w 9900294"/>
              <a:gd name="connsiteY0" fmla="*/ 242439 h 3724165"/>
              <a:gd name="connsiteX1" fmla="*/ 1325148 w 9900294"/>
              <a:gd name="connsiteY1" fmla="*/ 8025 h 3724165"/>
              <a:gd name="connsiteX2" fmla="*/ 9250189 w 9900294"/>
              <a:gd name="connsiteY2" fmla="*/ 0 h 3724165"/>
              <a:gd name="connsiteX3" fmla="*/ 9900294 w 9900294"/>
              <a:gd name="connsiteY3" fmla="*/ 3724165 h 3724165"/>
              <a:gd name="connsiteX4" fmla="*/ 613892 w 9900294"/>
              <a:gd name="connsiteY4" fmla="*/ 3719457 h 3724165"/>
              <a:gd name="connsiteX5" fmla="*/ 0 w 9900294"/>
              <a:gd name="connsiteY5" fmla="*/ 242439 h 3724165"/>
              <a:gd name="connsiteX0" fmla="*/ 0 w 9900294"/>
              <a:gd name="connsiteY0" fmla="*/ 240233 h 3721959"/>
              <a:gd name="connsiteX1" fmla="*/ 1325148 w 9900294"/>
              <a:gd name="connsiteY1" fmla="*/ 5819 h 3721959"/>
              <a:gd name="connsiteX2" fmla="*/ 9237682 w 9900294"/>
              <a:gd name="connsiteY2" fmla="*/ 0 h 3721959"/>
              <a:gd name="connsiteX3" fmla="*/ 9900294 w 9900294"/>
              <a:gd name="connsiteY3" fmla="*/ 3721959 h 3721959"/>
              <a:gd name="connsiteX4" fmla="*/ 613892 w 9900294"/>
              <a:gd name="connsiteY4" fmla="*/ 3717251 h 3721959"/>
              <a:gd name="connsiteX5" fmla="*/ 0 w 9900294"/>
              <a:gd name="connsiteY5" fmla="*/ 240233 h 3721959"/>
              <a:gd name="connsiteX0" fmla="*/ 0 w 9900294"/>
              <a:gd name="connsiteY0" fmla="*/ 238101 h 3719827"/>
              <a:gd name="connsiteX1" fmla="*/ 1325148 w 9900294"/>
              <a:gd name="connsiteY1" fmla="*/ 3687 h 3719827"/>
              <a:gd name="connsiteX2" fmla="*/ 9252056 w 9900294"/>
              <a:gd name="connsiteY2" fmla="*/ 0 h 3719827"/>
              <a:gd name="connsiteX3" fmla="*/ 9900294 w 9900294"/>
              <a:gd name="connsiteY3" fmla="*/ 3719827 h 3719827"/>
              <a:gd name="connsiteX4" fmla="*/ 613892 w 9900294"/>
              <a:gd name="connsiteY4" fmla="*/ 3715119 h 3719827"/>
              <a:gd name="connsiteX5" fmla="*/ 0 w 9900294"/>
              <a:gd name="connsiteY5" fmla="*/ 238101 h 3719827"/>
              <a:gd name="connsiteX0" fmla="*/ 0 w 9908546"/>
              <a:gd name="connsiteY0" fmla="*/ 238101 h 3715119"/>
              <a:gd name="connsiteX1" fmla="*/ 1325148 w 9908546"/>
              <a:gd name="connsiteY1" fmla="*/ 3687 h 3715119"/>
              <a:gd name="connsiteX2" fmla="*/ 9252056 w 9908546"/>
              <a:gd name="connsiteY2" fmla="*/ 0 h 3715119"/>
              <a:gd name="connsiteX3" fmla="*/ 9908546 w 9908546"/>
              <a:gd name="connsiteY3" fmla="*/ 3713706 h 3715119"/>
              <a:gd name="connsiteX4" fmla="*/ 613892 w 9908546"/>
              <a:gd name="connsiteY4" fmla="*/ 3715119 h 3715119"/>
              <a:gd name="connsiteX5" fmla="*/ 0 w 9908546"/>
              <a:gd name="connsiteY5" fmla="*/ 238101 h 3715119"/>
              <a:gd name="connsiteX0" fmla="*/ 0 w 9908546"/>
              <a:gd name="connsiteY0" fmla="*/ 238101 h 3714613"/>
              <a:gd name="connsiteX1" fmla="*/ 1325148 w 9908546"/>
              <a:gd name="connsiteY1" fmla="*/ 3687 h 3714613"/>
              <a:gd name="connsiteX2" fmla="*/ 9252056 w 9908546"/>
              <a:gd name="connsiteY2" fmla="*/ 0 h 3714613"/>
              <a:gd name="connsiteX3" fmla="*/ 9908546 w 9908546"/>
              <a:gd name="connsiteY3" fmla="*/ 3713706 h 3714613"/>
              <a:gd name="connsiteX4" fmla="*/ 616760 w 9908546"/>
              <a:gd name="connsiteY4" fmla="*/ 3714613 h 3714613"/>
              <a:gd name="connsiteX5" fmla="*/ 0 w 9908546"/>
              <a:gd name="connsiteY5" fmla="*/ 238101 h 371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8546" h="3714613">
                <a:moveTo>
                  <a:pt x="0" y="238101"/>
                </a:moveTo>
                <a:lnTo>
                  <a:pt x="1325148" y="3687"/>
                </a:lnTo>
                <a:lnTo>
                  <a:pt x="9252056" y="0"/>
                </a:lnTo>
                <a:lnTo>
                  <a:pt x="9908546" y="3713706"/>
                </a:lnTo>
                <a:lnTo>
                  <a:pt x="616760" y="3714613"/>
                </a:lnTo>
                <a:lnTo>
                  <a:pt x="0" y="238101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78000">
                <a:schemeClr val="accent3"/>
              </a:gs>
              <a:gs pos="17000">
                <a:srgbClr val="00B0A2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8" name="light blue to purple">
            <a:extLst>
              <a:ext uri="{FF2B5EF4-FFF2-40B4-BE49-F238E27FC236}">
                <a16:creationId xmlns:a16="http://schemas.microsoft.com/office/drawing/2014/main" id="{ABE4C3D6-50A2-8CB2-0B9E-C6D2446DC0A8}"/>
              </a:ext>
            </a:extLst>
          </p:cNvPr>
          <p:cNvSpPr/>
          <p:nvPr/>
        </p:nvSpPr>
        <p:spPr>
          <a:xfrm rot="600000">
            <a:off x="-362818" y="596803"/>
            <a:ext cx="9908546" cy="3714613"/>
          </a:xfrm>
          <a:custGeom>
            <a:avLst/>
            <a:gdLst>
              <a:gd name="connsiteX0" fmla="*/ 0 w 12457967"/>
              <a:gd name="connsiteY0" fmla="*/ 0 h 3718435"/>
              <a:gd name="connsiteX1" fmla="*/ 12457967 w 12457967"/>
              <a:gd name="connsiteY1" fmla="*/ 0 h 3718435"/>
              <a:gd name="connsiteX2" fmla="*/ 12457967 w 12457967"/>
              <a:gd name="connsiteY2" fmla="*/ 3718435 h 3718435"/>
              <a:gd name="connsiteX3" fmla="*/ 0 w 12457967"/>
              <a:gd name="connsiteY3" fmla="*/ 3718435 h 3718435"/>
              <a:gd name="connsiteX4" fmla="*/ 0 w 12457967"/>
              <a:gd name="connsiteY4" fmla="*/ 0 h 3718435"/>
              <a:gd name="connsiteX0" fmla="*/ 0 w 12457967"/>
              <a:gd name="connsiteY0" fmla="*/ 3302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0 w 12457967"/>
              <a:gd name="connsiteY5" fmla="*/ 3302 h 3721737"/>
              <a:gd name="connsiteX0" fmla="*/ 494795 w 12457967"/>
              <a:gd name="connsiteY0" fmla="*/ 242666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494795 w 12457967"/>
              <a:gd name="connsiteY5" fmla="*/ 242666 h 3721737"/>
              <a:gd name="connsiteX0" fmla="*/ 494795 w 12457967"/>
              <a:gd name="connsiteY0" fmla="*/ 239364 h 3718435"/>
              <a:gd name="connsiteX1" fmla="*/ 1819943 w 12457967"/>
              <a:gd name="connsiteY1" fmla="*/ 4950 h 3718435"/>
              <a:gd name="connsiteX2" fmla="*/ 12457967 w 12457967"/>
              <a:gd name="connsiteY2" fmla="*/ 0 h 3718435"/>
              <a:gd name="connsiteX3" fmla="*/ 12457967 w 12457967"/>
              <a:gd name="connsiteY3" fmla="*/ 3718435 h 3718435"/>
              <a:gd name="connsiteX4" fmla="*/ 0 w 12457967"/>
              <a:gd name="connsiteY4" fmla="*/ 3718435 h 3718435"/>
              <a:gd name="connsiteX5" fmla="*/ 494795 w 12457967"/>
              <a:gd name="connsiteY5" fmla="*/ 239364 h 3718435"/>
              <a:gd name="connsiteX0" fmla="*/ 0 w 11963172"/>
              <a:gd name="connsiteY0" fmla="*/ 239364 h 3718435"/>
              <a:gd name="connsiteX1" fmla="*/ 1325148 w 11963172"/>
              <a:gd name="connsiteY1" fmla="*/ 4950 h 3718435"/>
              <a:gd name="connsiteX2" fmla="*/ 11963172 w 11963172"/>
              <a:gd name="connsiteY2" fmla="*/ 0 h 3718435"/>
              <a:gd name="connsiteX3" fmla="*/ 11963172 w 11963172"/>
              <a:gd name="connsiteY3" fmla="*/ 3718435 h 3718435"/>
              <a:gd name="connsiteX4" fmla="*/ 613892 w 11963172"/>
              <a:gd name="connsiteY4" fmla="*/ 3716382 h 3718435"/>
              <a:gd name="connsiteX5" fmla="*/ 0 w 11963172"/>
              <a:gd name="connsiteY5" fmla="*/ 239364 h 3718435"/>
              <a:gd name="connsiteX0" fmla="*/ 0 w 11963172"/>
              <a:gd name="connsiteY0" fmla="*/ 242439 h 3721510"/>
              <a:gd name="connsiteX1" fmla="*/ 1325148 w 11963172"/>
              <a:gd name="connsiteY1" fmla="*/ 8025 h 3721510"/>
              <a:gd name="connsiteX2" fmla="*/ 9250189 w 11963172"/>
              <a:gd name="connsiteY2" fmla="*/ 0 h 3721510"/>
              <a:gd name="connsiteX3" fmla="*/ 11963172 w 11963172"/>
              <a:gd name="connsiteY3" fmla="*/ 3721510 h 3721510"/>
              <a:gd name="connsiteX4" fmla="*/ 613892 w 11963172"/>
              <a:gd name="connsiteY4" fmla="*/ 3719457 h 3721510"/>
              <a:gd name="connsiteX5" fmla="*/ 0 w 11963172"/>
              <a:gd name="connsiteY5" fmla="*/ 242439 h 3721510"/>
              <a:gd name="connsiteX0" fmla="*/ 0 w 9900294"/>
              <a:gd name="connsiteY0" fmla="*/ 242439 h 3724165"/>
              <a:gd name="connsiteX1" fmla="*/ 1325148 w 9900294"/>
              <a:gd name="connsiteY1" fmla="*/ 8025 h 3724165"/>
              <a:gd name="connsiteX2" fmla="*/ 9250189 w 9900294"/>
              <a:gd name="connsiteY2" fmla="*/ 0 h 3724165"/>
              <a:gd name="connsiteX3" fmla="*/ 9900294 w 9900294"/>
              <a:gd name="connsiteY3" fmla="*/ 3724165 h 3724165"/>
              <a:gd name="connsiteX4" fmla="*/ 613892 w 9900294"/>
              <a:gd name="connsiteY4" fmla="*/ 3719457 h 3724165"/>
              <a:gd name="connsiteX5" fmla="*/ 0 w 9900294"/>
              <a:gd name="connsiteY5" fmla="*/ 242439 h 3724165"/>
              <a:gd name="connsiteX0" fmla="*/ 0 w 9900294"/>
              <a:gd name="connsiteY0" fmla="*/ 240233 h 3721959"/>
              <a:gd name="connsiteX1" fmla="*/ 1325148 w 9900294"/>
              <a:gd name="connsiteY1" fmla="*/ 5819 h 3721959"/>
              <a:gd name="connsiteX2" fmla="*/ 9237682 w 9900294"/>
              <a:gd name="connsiteY2" fmla="*/ 0 h 3721959"/>
              <a:gd name="connsiteX3" fmla="*/ 9900294 w 9900294"/>
              <a:gd name="connsiteY3" fmla="*/ 3721959 h 3721959"/>
              <a:gd name="connsiteX4" fmla="*/ 613892 w 9900294"/>
              <a:gd name="connsiteY4" fmla="*/ 3717251 h 3721959"/>
              <a:gd name="connsiteX5" fmla="*/ 0 w 9900294"/>
              <a:gd name="connsiteY5" fmla="*/ 240233 h 3721959"/>
              <a:gd name="connsiteX0" fmla="*/ 0 w 9900294"/>
              <a:gd name="connsiteY0" fmla="*/ 238101 h 3719827"/>
              <a:gd name="connsiteX1" fmla="*/ 1325148 w 9900294"/>
              <a:gd name="connsiteY1" fmla="*/ 3687 h 3719827"/>
              <a:gd name="connsiteX2" fmla="*/ 9252056 w 9900294"/>
              <a:gd name="connsiteY2" fmla="*/ 0 h 3719827"/>
              <a:gd name="connsiteX3" fmla="*/ 9900294 w 9900294"/>
              <a:gd name="connsiteY3" fmla="*/ 3719827 h 3719827"/>
              <a:gd name="connsiteX4" fmla="*/ 613892 w 9900294"/>
              <a:gd name="connsiteY4" fmla="*/ 3715119 h 3719827"/>
              <a:gd name="connsiteX5" fmla="*/ 0 w 9900294"/>
              <a:gd name="connsiteY5" fmla="*/ 238101 h 3719827"/>
              <a:gd name="connsiteX0" fmla="*/ 0 w 9908546"/>
              <a:gd name="connsiteY0" fmla="*/ 238101 h 3715119"/>
              <a:gd name="connsiteX1" fmla="*/ 1325148 w 9908546"/>
              <a:gd name="connsiteY1" fmla="*/ 3687 h 3715119"/>
              <a:gd name="connsiteX2" fmla="*/ 9252056 w 9908546"/>
              <a:gd name="connsiteY2" fmla="*/ 0 h 3715119"/>
              <a:gd name="connsiteX3" fmla="*/ 9908546 w 9908546"/>
              <a:gd name="connsiteY3" fmla="*/ 3713706 h 3715119"/>
              <a:gd name="connsiteX4" fmla="*/ 613892 w 9908546"/>
              <a:gd name="connsiteY4" fmla="*/ 3715119 h 3715119"/>
              <a:gd name="connsiteX5" fmla="*/ 0 w 9908546"/>
              <a:gd name="connsiteY5" fmla="*/ 238101 h 3715119"/>
              <a:gd name="connsiteX0" fmla="*/ 0 w 9908546"/>
              <a:gd name="connsiteY0" fmla="*/ 238101 h 3714613"/>
              <a:gd name="connsiteX1" fmla="*/ 1325148 w 9908546"/>
              <a:gd name="connsiteY1" fmla="*/ 3687 h 3714613"/>
              <a:gd name="connsiteX2" fmla="*/ 9252056 w 9908546"/>
              <a:gd name="connsiteY2" fmla="*/ 0 h 3714613"/>
              <a:gd name="connsiteX3" fmla="*/ 9908546 w 9908546"/>
              <a:gd name="connsiteY3" fmla="*/ 3713706 h 3714613"/>
              <a:gd name="connsiteX4" fmla="*/ 616760 w 9908546"/>
              <a:gd name="connsiteY4" fmla="*/ 3714613 h 3714613"/>
              <a:gd name="connsiteX5" fmla="*/ 0 w 9908546"/>
              <a:gd name="connsiteY5" fmla="*/ 238101 h 371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8546" h="3714613">
                <a:moveTo>
                  <a:pt x="0" y="238101"/>
                </a:moveTo>
                <a:lnTo>
                  <a:pt x="1325148" y="3687"/>
                </a:lnTo>
                <a:lnTo>
                  <a:pt x="9252056" y="0"/>
                </a:lnTo>
                <a:lnTo>
                  <a:pt x="9908546" y="3713706"/>
                </a:lnTo>
                <a:lnTo>
                  <a:pt x="616760" y="3714613"/>
                </a:lnTo>
                <a:lnTo>
                  <a:pt x="0" y="238101"/>
                </a:lnTo>
                <a:close/>
              </a:path>
            </a:pathLst>
          </a:custGeom>
          <a:gradFill>
            <a:gsLst>
              <a:gs pos="0">
                <a:srgbClr val="00B5EF">
                  <a:alpha val="86000"/>
                </a:srgbClr>
              </a:gs>
              <a:gs pos="66000">
                <a:srgbClr val="4B2885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D125E0F8-29F7-6724-DB25-1EEF305C4A87}"/>
              </a:ext>
            </a:extLst>
          </p:cNvPr>
          <p:cNvSpPr txBox="1"/>
          <p:nvPr/>
        </p:nvSpPr>
        <p:spPr>
          <a:xfrm>
            <a:off x="1781697" y="3676199"/>
            <a:ext cx="56007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viavisolutions.com</a:t>
            </a:r>
          </a:p>
        </p:txBody>
      </p:sp>
      <p:pic>
        <p:nvPicPr>
          <p:cNvPr id="4" name="Picture 21">
            <a:extLst>
              <a:ext uri="{FF2B5EF4-FFF2-40B4-BE49-F238E27FC236}">
                <a16:creationId xmlns:a16="http://schemas.microsoft.com/office/drawing/2014/main" id="{46D5165D-25AB-A0DC-71DB-E883DCBE2B8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997949" y="1688552"/>
            <a:ext cx="3168197" cy="12899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63060A-6F82-C960-4DD5-72EA9ABB8A60}"/>
              </a:ext>
            </a:extLst>
          </p:cNvPr>
          <p:cNvSpPr/>
          <p:nvPr userDrawn="1"/>
        </p:nvSpPr>
        <p:spPr>
          <a:xfrm>
            <a:off x="0" y="4895850"/>
            <a:ext cx="9144000" cy="2476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9" name="Picture 8" descr="A white background with triangles&#10;&#10;Description automatically generated">
            <a:extLst>
              <a:ext uri="{FF2B5EF4-FFF2-40B4-BE49-F238E27FC236}">
                <a16:creationId xmlns:a16="http://schemas.microsoft.com/office/drawing/2014/main" id="{0CFCEF79-5FD0-8A00-3E09-AD6A31E418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111" y="0"/>
            <a:ext cx="9144000" cy="5143500"/>
          </a:xfrm>
          <a:prstGeom prst="rect">
            <a:avLst/>
          </a:prstGeom>
        </p:spPr>
      </p:pic>
      <p:sp>
        <p:nvSpPr>
          <p:cNvPr id="10" name="med blue to teal">
            <a:extLst>
              <a:ext uri="{FF2B5EF4-FFF2-40B4-BE49-F238E27FC236}">
                <a16:creationId xmlns:a16="http://schemas.microsoft.com/office/drawing/2014/main" id="{B3F7EB1B-5794-191A-264E-7CFB3836CC22}"/>
              </a:ext>
            </a:extLst>
          </p:cNvPr>
          <p:cNvSpPr/>
          <p:nvPr userDrawn="1"/>
        </p:nvSpPr>
        <p:spPr>
          <a:xfrm rot="21000000" flipH="1">
            <a:off x="-404153" y="596803"/>
            <a:ext cx="9908546" cy="3714613"/>
          </a:xfrm>
          <a:custGeom>
            <a:avLst/>
            <a:gdLst>
              <a:gd name="connsiteX0" fmla="*/ 0 w 12457967"/>
              <a:gd name="connsiteY0" fmla="*/ 0 h 3718435"/>
              <a:gd name="connsiteX1" fmla="*/ 12457967 w 12457967"/>
              <a:gd name="connsiteY1" fmla="*/ 0 h 3718435"/>
              <a:gd name="connsiteX2" fmla="*/ 12457967 w 12457967"/>
              <a:gd name="connsiteY2" fmla="*/ 3718435 h 3718435"/>
              <a:gd name="connsiteX3" fmla="*/ 0 w 12457967"/>
              <a:gd name="connsiteY3" fmla="*/ 3718435 h 3718435"/>
              <a:gd name="connsiteX4" fmla="*/ 0 w 12457967"/>
              <a:gd name="connsiteY4" fmla="*/ 0 h 3718435"/>
              <a:gd name="connsiteX0" fmla="*/ 0 w 12457967"/>
              <a:gd name="connsiteY0" fmla="*/ 3302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0 w 12457967"/>
              <a:gd name="connsiteY5" fmla="*/ 3302 h 3721737"/>
              <a:gd name="connsiteX0" fmla="*/ 494795 w 12457967"/>
              <a:gd name="connsiteY0" fmla="*/ 242666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494795 w 12457967"/>
              <a:gd name="connsiteY5" fmla="*/ 242666 h 3721737"/>
              <a:gd name="connsiteX0" fmla="*/ 494795 w 12457967"/>
              <a:gd name="connsiteY0" fmla="*/ 239364 h 3718435"/>
              <a:gd name="connsiteX1" fmla="*/ 1819943 w 12457967"/>
              <a:gd name="connsiteY1" fmla="*/ 4950 h 3718435"/>
              <a:gd name="connsiteX2" fmla="*/ 12457967 w 12457967"/>
              <a:gd name="connsiteY2" fmla="*/ 0 h 3718435"/>
              <a:gd name="connsiteX3" fmla="*/ 12457967 w 12457967"/>
              <a:gd name="connsiteY3" fmla="*/ 3718435 h 3718435"/>
              <a:gd name="connsiteX4" fmla="*/ 0 w 12457967"/>
              <a:gd name="connsiteY4" fmla="*/ 3718435 h 3718435"/>
              <a:gd name="connsiteX5" fmla="*/ 494795 w 12457967"/>
              <a:gd name="connsiteY5" fmla="*/ 239364 h 3718435"/>
              <a:gd name="connsiteX0" fmla="*/ 0 w 11963172"/>
              <a:gd name="connsiteY0" fmla="*/ 239364 h 3718435"/>
              <a:gd name="connsiteX1" fmla="*/ 1325148 w 11963172"/>
              <a:gd name="connsiteY1" fmla="*/ 4950 h 3718435"/>
              <a:gd name="connsiteX2" fmla="*/ 11963172 w 11963172"/>
              <a:gd name="connsiteY2" fmla="*/ 0 h 3718435"/>
              <a:gd name="connsiteX3" fmla="*/ 11963172 w 11963172"/>
              <a:gd name="connsiteY3" fmla="*/ 3718435 h 3718435"/>
              <a:gd name="connsiteX4" fmla="*/ 613892 w 11963172"/>
              <a:gd name="connsiteY4" fmla="*/ 3716382 h 3718435"/>
              <a:gd name="connsiteX5" fmla="*/ 0 w 11963172"/>
              <a:gd name="connsiteY5" fmla="*/ 239364 h 3718435"/>
              <a:gd name="connsiteX0" fmla="*/ 0 w 11963172"/>
              <a:gd name="connsiteY0" fmla="*/ 242439 h 3721510"/>
              <a:gd name="connsiteX1" fmla="*/ 1325148 w 11963172"/>
              <a:gd name="connsiteY1" fmla="*/ 8025 h 3721510"/>
              <a:gd name="connsiteX2" fmla="*/ 9250189 w 11963172"/>
              <a:gd name="connsiteY2" fmla="*/ 0 h 3721510"/>
              <a:gd name="connsiteX3" fmla="*/ 11963172 w 11963172"/>
              <a:gd name="connsiteY3" fmla="*/ 3721510 h 3721510"/>
              <a:gd name="connsiteX4" fmla="*/ 613892 w 11963172"/>
              <a:gd name="connsiteY4" fmla="*/ 3719457 h 3721510"/>
              <a:gd name="connsiteX5" fmla="*/ 0 w 11963172"/>
              <a:gd name="connsiteY5" fmla="*/ 242439 h 3721510"/>
              <a:gd name="connsiteX0" fmla="*/ 0 w 9900294"/>
              <a:gd name="connsiteY0" fmla="*/ 242439 h 3724165"/>
              <a:gd name="connsiteX1" fmla="*/ 1325148 w 9900294"/>
              <a:gd name="connsiteY1" fmla="*/ 8025 h 3724165"/>
              <a:gd name="connsiteX2" fmla="*/ 9250189 w 9900294"/>
              <a:gd name="connsiteY2" fmla="*/ 0 h 3724165"/>
              <a:gd name="connsiteX3" fmla="*/ 9900294 w 9900294"/>
              <a:gd name="connsiteY3" fmla="*/ 3724165 h 3724165"/>
              <a:gd name="connsiteX4" fmla="*/ 613892 w 9900294"/>
              <a:gd name="connsiteY4" fmla="*/ 3719457 h 3724165"/>
              <a:gd name="connsiteX5" fmla="*/ 0 w 9900294"/>
              <a:gd name="connsiteY5" fmla="*/ 242439 h 3724165"/>
              <a:gd name="connsiteX0" fmla="*/ 0 w 9900294"/>
              <a:gd name="connsiteY0" fmla="*/ 240233 h 3721959"/>
              <a:gd name="connsiteX1" fmla="*/ 1325148 w 9900294"/>
              <a:gd name="connsiteY1" fmla="*/ 5819 h 3721959"/>
              <a:gd name="connsiteX2" fmla="*/ 9237682 w 9900294"/>
              <a:gd name="connsiteY2" fmla="*/ 0 h 3721959"/>
              <a:gd name="connsiteX3" fmla="*/ 9900294 w 9900294"/>
              <a:gd name="connsiteY3" fmla="*/ 3721959 h 3721959"/>
              <a:gd name="connsiteX4" fmla="*/ 613892 w 9900294"/>
              <a:gd name="connsiteY4" fmla="*/ 3717251 h 3721959"/>
              <a:gd name="connsiteX5" fmla="*/ 0 w 9900294"/>
              <a:gd name="connsiteY5" fmla="*/ 240233 h 3721959"/>
              <a:gd name="connsiteX0" fmla="*/ 0 w 9900294"/>
              <a:gd name="connsiteY0" fmla="*/ 238101 h 3719827"/>
              <a:gd name="connsiteX1" fmla="*/ 1325148 w 9900294"/>
              <a:gd name="connsiteY1" fmla="*/ 3687 h 3719827"/>
              <a:gd name="connsiteX2" fmla="*/ 9252056 w 9900294"/>
              <a:gd name="connsiteY2" fmla="*/ 0 h 3719827"/>
              <a:gd name="connsiteX3" fmla="*/ 9900294 w 9900294"/>
              <a:gd name="connsiteY3" fmla="*/ 3719827 h 3719827"/>
              <a:gd name="connsiteX4" fmla="*/ 613892 w 9900294"/>
              <a:gd name="connsiteY4" fmla="*/ 3715119 h 3719827"/>
              <a:gd name="connsiteX5" fmla="*/ 0 w 9900294"/>
              <a:gd name="connsiteY5" fmla="*/ 238101 h 3719827"/>
              <a:gd name="connsiteX0" fmla="*/ 0 w 9908546"/>
              <a:gd name="connsiteY0" fmla="*/ 238101 h 3715119"/>
              <a:gd name="connsiteX1" fmla="*/ 1325148 w 9908546"/>
              <a:gd name="connsiteY1" fmla="*/ 3687 h 3715119"/>
              <a:gd name="connsiteX2" fmla="*/ 9252056 w 9908546"/>
              <a:gd name="connsiteY2" fmla="*/ 0 h 3715119"/>
              <a:gd name="connsiteX3" fmla="*/ 9908546 w 9908546"/>
              <a:gd name="connsiteY3" fmla="*/ 3713706 h 3715119"/>
              <a:gd name="connsiteX4" fmla="*/ 613892 w 9908546"/>
              <a:gd name="connsiteY4" fmla="*/ 3715119 h 3715119"/>
              <a:gd name="connsiteX5" fmla="*/ 0 w 9908546"/>
              <a:gd name="connsiteY5" fmla="*/ 238101 h 3715119"/>
              <a:gd name="connsiteX0" fmla="*/ 0 w 9908546"/>
              <a:gd name="connsiteY0" fmla="*/ 238101 h 3714613"/>
              <a:gd name="connsiteX1" fmla="*/ 1325148 w 9908546"/>
              <a:gd name="connsiteY1" fmla="*/ 3687 h 3714613"/>
              <a:gd name="connsiteX2" fmla="*/ 9252056 w 9908546"/>
              <a:gd name="connsiteY2" fmla="*/ 0 h 3714613"/>
              <a:gd name="connsiteX3" fmla="*/ 9908546 w 9908546"/>
              <a:gd name="connsiteY3" fmla="*/ 3713706 h 3714613"/>
              <a:gd name="connsiteX4" fmla="*/ 616760 w 9908546"/>
              <a:gd name="connsiteY4" fmla="*/ 3714613 h 3714613"/>
              <a:gd name="connsiteX5" fmla="*/ 0 w 9908546"/>
              <a:gd name="connsiteY5" fmla="*/ 238101 h 371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8546" h="3714613">
                <a:moveTo>
                  <a:pt x="0" y="238101"/>
                </a:moveTo>
                <a:lnTo>
                  <a:pt x="1325148" y="3687"/>
                </a:lnTo>
                <a:lnTo>
                  <a:pt x="9252056" y="0"/>
                </a:lnTo>
                <a:lnTo>
                  <a:pt x="9908546" y="3713706"/>
                </a:lnTo>
                <a:lnTo>
                  <a:pt x="616760" y="3714613"/>
                </a:lnTo>
                <a:lnTo>
                  <a:pt x="0" y="238101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78000">
                <a:schemeClr val="accent3"/>
              </a:gs>
              <a:gs pos="17000">
                <a:srgbClr val="00B0A2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1" name="light blue to purple">
            <a:extLst>
              <a:ext uri="{FF2B5EF4-FFF2-40B4-BE49-F238E27FC236}">
                <a16:creationId xmlns:a16="http://schemas.microsoft.com/office/drawing/2014/main" id="{FB65670B-620E-B591-922D-643DEB2B6D23}"/>
              </a:ext>
            </a:extLst>
          </p:cNvPr>
          <p:cNvSpPr/>
          <p:nvPr userDrawn="1"/>
        </p:nvSpPr>
        <p:spPr>
          <a:xfrm rot="600000">
            <a:off x="-362818" y="596803"/>
            <a:ext cx="9908546" cy="3714613"/>
          </a:xfrm>
          <a:custGeom>
            <a:avLst/>
            <a:gdLst>
              <a:gd name="connsiteX0" fmla="*/ 0 w 12457967"/>
              <a:gd name="connsiteY0" fmla="*/ 0 h 3718435"/>
              <a:gd name="connsiteX1" fmla="*/ 12457967 w 12457967"/>
              <a:gd name="connsiteY1" fmla="*/ 0 h 3718435"/>
              <a:gd name="connsiteX2" fmla="*/ 12457967 w 12457967"/>
              <a:gd name="connsiteY2" fmla="*/ 3718435 h 3718435"/>
              <a:gd name="connsiteX3" fmla="*/ 0 w 12457967"/>
              <a:gd name="connsiteY3" fmla="*/ 3718435 h 3718435"/>
              <a:gd name="connsiteX4" fmla="*/ 0 w 12457967"/>
              <a:gd name="connsiteY4" fmla="*/ 0 h 3718435"/>
              <a:gd name="connsiteX0" fmla="*/ 0 w 12457967"/>
              <a:gd name="connsiteY0" fmla="*/ 3302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0 w 12457967"/>
              <a:gd name="connsiteY5" fmla="*/ 3302 h 3721737"/>
              <a:gd name="connsiteX0" fmla="*/ 494795 w 12457967"/>
              <a:gd name="connsiteY0" fmla="*/ 242666 h 3721737"/>
              <a:gd name="connsiteX1" fmla="*/ 1813822 w 12457967"/>
              <a:gd name="connsiteY1" fmla="*/ 0 h 3721737"/>
              <a:gd name="connsiteX2" fmla="*/ 12457967 w 12457967"/>
              <a:gd name="connsiteY2" fmla="*/ 3302 h 3721737"/>
              <a:gd name="connsiteX3" fmla="*/ 12457967 w 12457967"/>
              <a:gd name="connsiteY3" fmla="*/ 3721737 h 3721737"/>
              <a:gd name="connsiteX4" fmla="*/ 0 w 12457967"/>
              <a:gd name="connsiteY4" fmla="*/ 3721737 h 3721737"/>
              <a:gd name="connsiteX5" fmla="*/ 494795 w 12457967"/>
              <a:gd name="connsiteY5" fmla="*/ 242666 h 3721737"/>
              <a:gd name="connsiteX0" fmla="*/ 494795 w 12457967"/>
              <a:gd name="connsiteY0" fmla="*/ 239364 h 3718435"/>
              <a:gd name="connsiteX1" fmla="*/ 1819943 w 12457967"/>
              <a:gd name="connsiteY1" fmla="*/ 4950 h 3718435"/>
              <a:gd name="connsiteX2" fmla="*/ 12457967 w 12457967"/>
              <a:gd name="connsiteY2" fmla="*/ 0 h 3718435"/>
              <a:gd name="connsiteX3" fmla="*/ 12457967 w 12457967"/>
              <a:gd name="connsiteY3" fmla="*/ 3718435 h 3718435"/>
              <a:gd name="connsiteX4" fmla="*/ 0 w 12457967"/>
              <a:gd name="connsiteY4" fmla="*/ 3718435 h 3718435"/>
              <a:gd name="connsiteX5" fmla="*/ 494795 w 12457967"/>
              <a:gd name="connsiteY5" fmla="*/ 239364 h 3718435"/>
              <a:gd name="connsiteX0" fmla="*/ 0 w 11963172"/>
              <a:gd name="connsiteY0" fmla="*/ 239364 h 3718435"/>
              <a:gd name="connsiteX1" fmla="*/ 1325148 w 11963172"/>
              <a:gd name="connsiteY1" fmla="*/ 4950 h 3718435"/>
              <a:gd name="connsiteX2" fmla="*/ 11963172 w 11963172"/>
              <a:gd name="connsiteY2" fmla="*/ 0 h 3718435"/>
              <a:gd name="connsiteX3" fmla="*/ 11963172 w 11963172"/>
              <a:gd name="connsiteY3" fmla="*/ 3718435 h 3718435"/>
              <a:gd name="connsiteX4" fmla="*/ 613892 w 11963172"/>
              <a:gd name="connsiteY4" fmla="*/ 3716382 h 3718435"/>
              <a:gd name="connsiteX5" fmla="*/ 0 w 11963172"/>
              <a:gd name="connsiteY5" fmla="*/ 239364 h 3718435"/>
              <a:gd name="connsiteX0" fmla="*/ 0 w 11963172"/>
              <a:gd name="connsiteY0" fmla="*/ 242439 h 3721510"/>
              <a:gd name="connsiteX1" fmla="*/ 1325148 w 11963172"/>
              <a:gd name="connsiteY1" fmla="*/ 8025 h 3721510"/>
              <a:gd name="connsiteX2" fmla="*/ 9250189 w 11963172"/>
              <a:gd name="connsiteY2" fmla="*/ 0 h 3721510"/>
              <a:gd name="connsiteX3" fmla="*/ 11963172 w 11963172"/>
              <a:gd name="connsiteY3" fmla="*/ 3721510 h 3721510"/>
              <a:gd name="connsiteX4" fmla="*/ 613892 w 11963172"/>
              <a:gd name="connsiteY4" fmla="*/ 3719457 h 3721510"/>
              <a:gd name="connsiteX5" fmla="*/ 0 w 11963172"/>
              <a:gd name="connsiteY5" fmla="*/ 242439 h 3721510"/>
              <a:gd name="connsiteX0" fmla="*/ 0 w 9900294"/>
              <a:gd name="connsiteY0" fmla="*/ 242439 h 3724165"/>
              <a:gd name="connsiteX1" fmla="*/ 1325148 w 9900294"/>
              <a:gd name="connsiteY1" fmla="*/ 8025 h 3724165"/>
              <a:gd name="connsiteX2" fmla="*/ 9250189 w 9900294"/>
              <a:gd name="connsiteY2" fmla="*/ 0 h 3724165"/>
              <a:gd name="connsiteX3" fmla="*/ 9900294 w 9900294"/>
              <a:gd name="connsiteY3" fmla="*/ 3724165 h 3724165"/>
              <a:gd name="connsiteX4" fmla="*/ 613892 w 9900294"/>
              <a:gd name="connsiteY4" fmla="*/ 3719457 h 3724165"/>
              <a:gd name="connsiteX5" fmla="*/ 0 w 9900294"/>
              <a:gd name="connsiteY5" fmla="*/ 242439 h 3724165"/>
              <a:gd name="connsiteX0" fmla="*/ 0 w 9900294"/>
              <a:gd name="connsiteY0" fmla="*/ 240233 h 3721959"/>
              <a:gd name="connsiteX1" fmla="*/ 1325148 w 9900294"/>
              <a:gd name="connsiteY1" fmla="*/ 5819 h 3721959"/>
              <a:gd name="connsiteX2" fmla="*/ 9237682 w 9900294"/>
              <a:gd name="connsiteY2" fmla="*/ 0 h 3721959"/>
              <a:gd name="connsiteX3" fmla="*/ 9900294 w 9900294"/>
              <a:gd name="connsiteY3" fmla="*/ 3721959 h 3721959"/>
              <a:gd name="connsiteX4" fmla="*/ 613892 w 9900294"/>
              <a:gd name="connsiteY4" fmla="*/ 3717251 h 3721959"/>
              <a:gd name="connsiteX5" fmla="*/ 0 w 9900294"/>
              <a:gd name="connsiteY5" fmla="*/ 240233 h 3721959"/>
              <a:gd name="connsiteX0" fmla="*/ 0 w 9900294"/>
              <a:gd name="connsiteY0" fmla="*/ 238101 h 3719827"/>
              <a:gd name="connsiteX1" fmla="*/ 1325148 w 9900294"/>
              <a:gd name="connsiteY1" fmla="*/ 3687 h 3719827"/>
              <a:gd name="connsiteX2" fmla="*/ 9252056 w 9900294"/>
              <a:gd name="connsiteY2" fmla="*/ 0 h 3719827"/>
              <a:gd name="connsiteX3" fmla="*/ 9900294 w 9900294"/>
              <a:gd name="connsiteY3" fmla="*/ 3719827 h 3719827"/>
              <a:gd name="connsiteX4" fmla="*/ 613892 w 9900294"/>
              <a:gd name="connsiteY4" fmla="*/ 3715119 h 3719827"/>
              <a:gd name="connsiteX5" fmla="*/ 0 w 9900294"/>
              <a:gd name="connsiteY5" fmla="*/ 238101 h 3719827"/>
              <a:gd name="connsiteX0" fmla="*/ 0 w 9908546"/>
              <a:gd name="connsiteY0" fmla="*/ 238101 h 3715119"/>
              <a:gd name="connsiteX1" fmla="*/ 1325148 w 9908546"/>
              <a:gd name="connsiteY1" fmla="*/ 3687 h 3715119"/>
              <a:gd name="connsiteX2" fmla="*/ 9252056 w 9908546"/>
              <a:gd name="connsiteY2" fmla="*/ 0 h 3715119"/>
              <a:gd name="connsiteX3" fmla="*/ 9908546 w 9908546"/>
              <a:gd name="connsiteY3" fmla="*/ 3713706 h 3715119"/>
              <a:gd name="connsiteX4" fmla="*/ 613892 w 9908546"/>
              <a:gd name="connsiteY4" fmla="*/ 3715119 h 3715119"/>
              <a:gd name="connsiteX5" fmla="*/ 0 w 9908546"/>
              <a:gd name="connsiteY5" fmla="*/ 238101 h 3715119"/>
              <a:gd name="connsiteX0" fmla="*/ 0 w 9908546"/>
              <a:gd name="connsiteY0" fmla="*/ 238101 h 3714613"/>
              <a:gd name="connsiteX1" fmla="*/ 1325148 w 9908546"/>
              <a:gd name="connsiteY1" fmla="*/ 3687 h 3714613"/>
              <a:gd name="connsiteX2" fmla="*/ 9252056 w 9908546"/>
              <a:gd name="connsiteY2" fmla="*/ 0 h 3714613"/>
              <a:gd name="connsiteX3" fmla="*/ 9908546 w 9908546"/>
              <a:gd name="connsiteY3" fmla="*/ 3713706 h 3714613"/>
              <a:gd name="connsiteX4" fmla="*/ 616760 w 9908546"/>
              <a:gd name="connsiteY4" fmla="*/ 3714613 h 3714613"/>
              <a:gd name="connsiteX5" fmla="*/ 0 w 9908546"/>
              <a:gd name="connsiteY5" fmla="*/ 238101 h 371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8546" h="3714613">
                <a:moveTo>
                  <a:pt x="0" y="238101"/>
                </a:moveTo>
                <a:lnTo>
                  <a:pt x="1325148" y="3687"/>
                </a:lnTo>
                <a:lnTo>
                  <a:pt x="9252056" y="0"/>
                </a:lnTo>
                <a:lnTo>
                  <a:pt x="9908546" y="3713706"/>
                </a:lnTo>
                <a:lnTo>
                  <a:pt x="616760" y="3714613"/>
                </a:lnTo>
                <a:lnTo>
                  <a:pt x="0" y="238101"/>
                </a:lnTo>
                <a:close/>
              </a:path>
            </a:pathLst>
          </a:custGeom>
          <a:gradFill>
            <a:gsLst>
              <a:gs pos="0">
                <a:srgbClr val="00B5EF">
                  <a:alpha val="86000"/>
                </a:srgbClr>
              </a:gs>
              <a:gs pos="66000">
                <a:srgbClr val="4B2885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2" name="TextBox 11">
            <a:hlinkClick r:id="rId3"/>
            <a:extLst>
              <a:ext uri="{FF2B5EF4-FFF2-40B4-BE49-F238E27FC236}">
                <a16:creationId xmlns:a16="http://schemas.microsoft.com/office/drawing/2014/main" id="{24FAC442-8F3C-C7E9-0141-FA4DFF3B77C5}"/>
              </a:ext>
            </a:extLst>
          </p:cNvPr>
          <p:cNvSpPr txBox="1"/>
          <p:nvPr userDrawn="1"/>
        </p:nvSpPr>
        <p:spPr>
          <a:xfrm>
            <a:off x="1781697" y="3676199"/>
            <a:ext cx="56007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viavisolutions.com</a:t>
            </a:r>
          </a:p>
        </p:txBody>
      </p:sp>
      <p:pic>
        <p:nvPicPr>
          <p:cNvPr id="13" name="Picture 21">
            <a:extLst>
              <a:ext uri="{FF2B5EF4-FFF2-40B4-BE49-F238E27FC236}">
                <a16:creationId xmlns:a16="http://schemas.microsoft.com/office/drawing/2014/main" id="{2A28DF15-DA7C-4622-FBC9-437C822B3A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997949" y="1688552"/>
            <a:ext cx="3168197" cy="128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90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864">
          <p15:clr>
            <a:srgbClr val="FBAE40"/>
          </p15:clr>
        </p15:guide>
        <p15:guide id="3" pos="48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C5E04BA-FE17-25F3-CB81-8968F2A896C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700" y="4931314"/>
            <a:ext cx="547616" cy="139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55E8F4-0AB2-9256-7E05-82A98C94EF8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94950" y="4958080"/>
            <a:ext cx="5762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VIAVI//Public</a:t>
            </a:r>
          </a:p>
        </p:txBody>
      </p:sp>
      <p:sp>
        <p:nvSpPr>
          <p:cNvPr id="25" name="Title Placeholder 24">
            <a:extLst>
              <a:ext uri="{FF2B5EF4-FFF2-40B4-BE49-F238E27FC236}">
                <a16:creationId xmlns:a16="http://schemas.microsoft.com/office/drawing/2014/main" id="{A2E06342-E4B0-2FF5-D003-B8B400CD0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E3CC181-4E2C-F502-7835-AA4A19B5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Footer Placeholder 2" hidden="1">
            <a:extLst>
              <a:ext uri="{FF2B5EF4-FFF2-40B4-BE49-F238E27FC236}">
                <a16:creationId xmlns:a16="http://schemas.microsoft.com/office/drawing/2014/main" id="{A5C90940-5E56-ADBD-7B4E-FD6F606911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54258" y="4941336"/>
            <a:ext cx="1815841" cy="13716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>
                <a:solidFill>
                  <a:schemeClr val="accent6"/>
                </a:solidFill>
              </a:rPr>
              <a:t>         ©          VIAVI Solutions Inc.</a:t>
            </a:r>
          </a:p>
        </p:txBody>
      </p:sp>
      <p:sp>
        <p:nvSpPr>
          <p:cNvPr id="31" name="TextBox 30" hidden="1">
            <a:extLst>
              <a:ext uri="{FF2B5EF4-FFF2-40B4-BE49-F238E27FC236}">
                <a16:creationId xmlns:a16="http://schemas.microsoft.com/office/drawing/2014/main" id="{564EA943-D1B6-ED14-0D1B-3421FA2E4E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285228" y="4903648"/>
            <a:ext cx="515877" cy="20775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1200">
                <a:solidFill>
                  <a:srgbClr val="3D0064"/>
                </a:solidFill>
              </a:defRPr>
            </a:lvl1pPr>
          </a:lstStyle>
          <a:p>
            <a:pPr lvl="0"/>
            <a:fld id="{510F167E-D98C-DA4B-8A87-8A99C0A00B88}" type="slidenum">
              <a:rPr lang="en-US" sz="800" smtClean="0">
                <a:solidFill>
                  <a:schemeClr val="accent6"/>
                </a:solidFill>
              </a:rPr>
              <a:pPr lvl="0"/>
              <a:t>‹#›</a:t>
            </a:fld>
            <a:endParaRPr lang="en-US" sz="800">
              <a:solidFill>
                <a:schemeClr val="accent6"/>
              </a:solidFill>
            </a:endParaRPr>
          </a:p>
        </p:txBody>
      </p:sp>
      <p:sp>
        <p:nvSpPr>
          <p:cNvPr id="33" name="Date Placeholder 32" hidden="1">
            <a:extLst>
              <a:ext uri="{FF2B5EF4-FFF2-40B4-BE49-F238E27FC236}">
                <a16:creationId xmlns:a16="http://schemas.microsoft.com/office/drawing/2014/main" id="{C5CC7F49-C6DE-5400-477D-EB9DC7AC34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7189983" y="4947608"/>
            <a:ext cx="267953" cy="12801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fld id="{9DA52E58-64BA-47B2-829C-6EC583262C7F}" type="datetimeyyyy">
              <a:rPr lang="en-US" smtClean="0"/>
              <a:t>2025</a:t>
            </a:fld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D8B3D5-14BA-80E9-2A1B-AFFC03603F8C}"/>
              </a:ext>
            </a:extLst>
          </p:cNvPr>
          <p:cNvSpPr txBox="1"/>
          <p:nvPr/>
        </p:nvSpPr>
        <p:spPr>
          <a:xfrm>
            <a:off x="8285228" y="4908372"/>
            <a:ext cx="515877" cy="20775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1200">
                <a:solidFill>
                  <a:srgbClr val="3D0064"/>
                </a:solidFill>
              </a:defRPr>
            </a:lvl1pPr>
          </a:lstStyle>
          <a:p>
            <a:pPr lvl="0"/>
            <a:fld id="{510F167E-D98C-DA4B-8A87-8A99C0A00B88}" type="slidenum">
              <a:rPr lang="en-US" sz="800" smtClean="0">
                <a:solidFill>
                  <a:schemeClr val="accent6"/>
                </a:solidFill>
              </a:rPr>
              <a:pPr lvl="0"/>
              <a:t>‹#›</a:t>
            </a:fld>
            <a:endParaRPr lang="en-US" sz="800">
              <a:solidFill>
                <a:schemeClr val="accent6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1508ED2-8472-6D05-0A89-E414208B5E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700" y="4931314"/>
            <a:ext cx="547616" cy="139660"/>
          </a:xfrm>
          <a:prstGeom prst="rect">
            <a:avLst/>
          </a:prstGeom>
        </p:spPr>
      </p:pic>
      <p:sp>
        <p:nvSpPr>
          <p:cNvPr id="3" name="Footer Placeholder 2" hidden="1">
            <a:extLst>
              <a:ext uri="{FF2B5EF4-FFF2-40B4-BE49-F238E27FC236}">
                <a16:creationId xmlns:a16="http://schemas.microsoft.com/office/drawing/2014/main" id="{8B4C9DB8-6FA6-ACEB-FC13-DC8D8E379EA1}"/>
              </a:ext>
            </a:extLst>
          </p:cNvPr>
          <p:cNvSpPr txBox="1"/>
          <p:nvPr userDrawn="1"/>
        </p:nvSpPr>
        <p:spPr>
          <a:xfrm>
            <a:off x="6754258" y="4941336"/>
            <a:ext cx="1815841" cy="13716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>
                <a:solidFill>
                  <a:schemeClr val="accent6"/>
                </a:solidFill>
              </a:rPr>
              <a:t>         ©          VIAVI Solutions Inc.</a:t>
            </a:r>
          </a:p>
        </p:txBody>
      </p:sp>
      <p:sp>
        <p:nvSpPr>
          <p:cNvPr id="5" name="TextBox 4" hidden="1">
            <a:extLst>
              <a:ext uri="{FF2B5EF4-FFF2-40B4-BE49-F238E27FC236}">
                <a16:creationId xmlns:a16="http://schemas.microsoft.com/office/drawing/2014/main" id="{2494648C-80C5-2745-DCE3-B2AE1DD30034}"/>
              </a:ext>
            </a:extLst>
          </p:cNvPr>
          <p:cNvSpPr txBox="1"/>
          <p:nvPr userDrawn="1"/>
        </p:nvSpPr>
        <p:spPr>
          <a:xfrm>
            <a:off x="8285228" y="4903648"/>
            <a:ext cx="515877" cy="20775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1200">
                <a:solidFill>
                  <a:srgbClr val="3D0064"/>
                </a:solidFill>
              </a:defRPr>
            </a:lvl1pPr>
          </a:lstStyle>
          <a:p>
            <a:pPr lvl="0"/>
            <a:fld id="{510F167E-D98C-DA4B-8A87-8A99C0A00B88}" type="slidenum">
              <a:rPr lang="en-US" sz="800" smtClean="0">
                <a:solidFill>
                  <a:schemeClr val="accent6"/>
                </a:solidFill>
              </a:rPr>
              <a:pPr lvl="0"/>
              <a:t>‹#›</a:t>
            </a:fld>
            <a:endParaRPr lang="en-US" sz="80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C99AC9-5962-2290-673D-93081103451C}"/>
              </a:ext>
            </a:extLst>
          </p:cNvPr>
          <p:cNvSpPr txBox="1"/>
          <p:nvPr userDrawn="1"/>
        </p:nvSpPr>
        <p:spPr>
          <a:xfrm>
            <a:off x="8285228" y="4908372"/>
            <a:ext cx="515877" cy="20775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1200">
                <a:solidFill>
                  <a:srgbClr val="3D0064"/>
                </a:solidFill>
              </a:defRPr>
            </a:lvl1pPr>
          </a:lstStyle>
          <a:p>
            <a:pPr lvl="0"/>
            <a:fld id="{510F167E-D98C-DA4B-8A87-8A99C0A00B88}" type="slidenum">
              <a:rPr lang="en-US" sz="800" smtClean="0">
                <a:solidFill>
                  <a:schemeClr val="accent6"/>
                </a:solidFill>
              </a:rPr>
              <a:pPr lvl="0"/>
              <a:t>‹#›</a:t>
            </a:fld>
            <a:endParaRPr lang="en-US" sz="800">
              <a:solidFill>
                <a:schemeClr val="accent6"/>
              </a:solidFill>
            </a:endParaRP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27C9D771-A09E-B5AA-EC7E-5DCA4A76E391}"/>
              </a:ext>
            </a:extLst>
          </p:cNvPr>
          <p:cNvSpPr txBox="1">
            <a:spLocks/>
          </p:cNvSpPr>
          <p:nvPr userDrawn="1"/>
        </p:nvSpPr>
        <p:spPr>
          <a:xfrm>
            <a:off x="6678952" y="4941604"/>
            <a:ext cx="1815841" cy="13716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spc="40" baseline="0">
                <a:solidFill>
                  <a:schemeClr val="accent6"/>
                </a:solidFill>
              </a:rPr>
              <a:t>©</a:t>
            </a:r>
            <a:r>
              <a:rPr lang="en-US" sz="800" spc="0" baseline="0">
                <a:solidFill>
                  <a:schemeClr val="accent6"/>
                </a:solidFill>
              </a:rPr>
              <a:t>2</a:t>
            </a:r>
            <a:r>
              <a:rPr lang="en-US" sz="800" spc="0">
                <a:solidFill>
                  <a:schemeClr val="accent6"/>
                </a:solidFill>
              </a:rPr>
              <a:t>0</a:t>
            </a:r>
            <a:r>
              <a:rPr lang="en-US" sz="800">
                <a:solidFill>
                  <a:schemeClr val="accent6"/>
                </a:solidFill>
              </a:rPr>
              <a:t>25 VIAVI Solutions Inc.</a:t>
            </a:r>
          </a:p>
        </p:txBody>
      </p:sp>
    </p:spTree>
    <p:extLst>
      <p:ext uri="{BB962C8B-B14F-4D97-AF65-F5344CB8AC3E}">
        <p14:creationId xmlns:p14="http://schemas.microsoft.com/office/powerpoint/2010/main" val="249047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0" r:id="rId1"/>
    <p:sldLayoutId id="2147484116" r:id="rId2"/>
    <p:sldLayoutId id="2147484136" r:id="rId3"/>
  </p:sldLayoutIdLst>
  <p:hf sldNum="0" hdr="0" ftr="0"/>
  <p:txStyles>
    <p:titleStyle>
      <a:lvl1pPr algn="l" defTabSz="457189" rtl="0" eaLnBrk="1" latinLnBrk="0" hangingPunct="1"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3736" indent="-173736" algn="l" defTabSz="457189" rtl="0" eaLnBrk="1" latinLnBrk="0" hangingPunct="1">
        <a:spcBef>
          <a:spcPts val="0"/>
        </a:spcBef>
        <a:spcAft>
          <a:spcPts val="300"/>
        </a:spcAft>
        <a:buClrTx/>
        <a:buSzPct val="80000"/>
        <a:buFont typeface="Wingdings" panose="05000000000000000000" pitchFamily="2" charset="2"/>
        <a:buChar char="§"/>
        <a:defRPr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73736" algn="l" defTabSz="457189" rtl="0" eaLnBrk="1" latinLnBrk="0" hangingPunct="1">
        <a:spcBef>
          <a:spcPts val="0"/>
        </a:spcBef>
        <a:spcAft>
          <a:spcPts val="300"/>
        </a:spcAft>
        <a:buClrTx/>
        <a:buSzPct val="80000"/>
        <a:buFont typeface="Arial" panose="020B0604020202020204" pitchFamily="34" charset="0"/>
        <a:buChar char="–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71446" algn="l" defTabSz="457189" rtl="0" eaLnBrk="1" latinLnBrk="0" hangingPunct="1">
        <a:spcBef>
          <a:spcPts val="0"/>
        </a:spcBef>
        <a:spcAft>
          <a:spcPts val="300"/>
        </a:spcAft>
        <a:buClrTx/>
        <a:buSzPct val="80000"/>
        <a:buFont typeface="Wingdings" panose="05000000000000000000" pitchFamily="2" charset="2"/>
        <a:buChar char="§"/>
        <a:defRPr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73034" algn="l" defTabSz="457189" rtl="0" eaLnBrk="1" latinLnBrk="0" hangingPunct="1">
        <a:spcBef>
          <a:spcPts val="0"/>
        </a:spcBef>
        <a:spcAft>
          <a:spcPts val="300"/>
        </a:spcAft>
        <a:buClrTx/>
        <a:buSzPct val="80000"/>
        <a:buFont typeface="Arial" panose="020B0604020202020204" pitchFamily="34" charset="0"/>
        <a:buChar char="–"/>
        <a:defRPr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73034" algn="l" defTabSz="457189" rtl="0" eaLnBrk="1" latinLnBrk="0" hangingPunct="1">
        <a:spcBef>
          <a:spcPts val="0"/>
        </a:spcBef>
        <a:spcAft>
          <a:spcPts val="600"/>
        </a:spcAft>
        <a:buClrTx/>
        <a:buSzPct val="80000"/>
        <a:buFont typeface="Wingdings" panose="05000000000000000000" pitchFamily="2" charset="2"/>
        <a:buChar char="§"/>
        <a:defRPr lang="en-US" sz="105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3180" userDrawn="1">
          <p15:clr>
            <a:srgbClr val="F26B43"/>
          </p15:clr>
        </p15:guide>
        <p15:guide id="10" pos="216" userDrawn="1">
          <p15:clr>
            <a:srgbClr val="F26B43"/>
          </p15:clr>
        </p15:guide>
        <p15:guide id="11" orient="horz" pos="1620" userDrawn="1">
          <p15:clr>
            <a:srgbClr val="F26B43"/>
          </p15:clr>
        </p15:guide>
        <p15:guide id="12" orient="horz" pos="84" userDrawn="1">
          <p15:clr>
            <a:srgbClr val="F26B43"/>
          </p15:clr>
        </p15:guide>
        <p15:guide id="13" orient="horz" pos="3084" userDrawn="1">
          <p15:clr>
            <a:srgbClr val="F26B43"/>
          </p15:clr>
        </p15:guide>
        <p15:guide id="14" orient="horz" pos="108" userDrawn="1">
          <p15:clr>
            <a:srgbClr val="F26B43"/>
          </p15:clr>
        </p15:guide>
        <p15:guide id="15" pos="2880" userDrawn="1">
          <p15:clr>
            <a:srgbClr val="F26B43"/>
          </p15:clr>
        </p15:guide>
        <p15:guide id="16" pos="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125A7-F565-7131-7FA8-BAC1B8D31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014" y="1492987"/>
            <a:ext cx="8847972" cy="1375424"/>
          </a:xfrm>
        </p:spPr>
        <p:txBody>
          <a:bodyPr/>
          <a:lstStyle/>
          <a:p>
            <a:r>
              <a:rPr lang="en-US" sz="3200"/>
              <a:t>Proof of Concept for Resilient VLF Navigation</a:t>
            </a:r>
            <a:br>
              <a:rPr lang="en-US" sz="3200"/>
            </a:br>
            <a:r>
              <a:rPr lang="en-US" sz="1400"/>
              <a:t>“Precision in the invisible spectrum — from sub-kilohertz to sub-degree.”</a:t>
            </a:r>
            <a:endParaRPr lang="en-US" sz="32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CC618C-08D5-2C13-803A-2426B0C8C3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December 2025</a:t>
            </a:r>
          </a:p>
        </p:txBody>
      </p:sp>
    </p:spTree>
    <p:extLst>
      <p:ext uri="{BB962C8B-B14F-4D97-AF65-F5344CB8AC3E}">
        <p14:creationId xmlns:p14="http://schemas.microsoft.com/office/powerpoint/2010/main" val="404845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0736-1A31-3027-7BC5-6335A7E3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86ACE3-83FA-1814-02E2-5FE434B1E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Why Navigation Demands Resilience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C44E9-D045-40CC-C5F7-6156E650A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43366"/>
            <a:ext cx="8458200" cy="4011342"/>
          </a:xfrm>
        </p:spPr>
        <p:txBody>
          <a:bodyPr/>
          <a:lstStyle/>
          <a:p>
            <a:pPr marL="285750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2000"/>
              <a:t>GPS is ubiquitous — but fragile under jamming, spoofing, or denial</a:t>
            </a:r>
          </a:p>
          <a:p>
            <a:pPr marL="285750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2000"/>
              <a:t>Navigation failure cascades into mission failure: aviation, maritime, defense, infrastructure</a:t>
            </a:r>
          </a:p>
          <a:p>
            <a:pPr marL="285750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2000"/>
              <a:t>What matters in navigation?</a:t>
            </a:r>
          </a:p>
          <a:p>
            <a:pPr marL="468630" lvl="1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1800"/>
              <a:t>Position — derived from GNSS signals</a:t>
            </a:r>
          </a:p>
          <a:p>
            <a:pPr marL="468630" lvl="1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1800"/>
              <a:t>Heading — via dual GNSS receivers or magnetic compass</a:t>
            </a:r>
          </a:p>
          <a:p>
            <a:pPr marL="468630" lvl="1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1800"/>
              <a:t>Speed and acceleration — estimated using IMU/INS</a:t>
            </a:r>
          </a:p>
          <a:p>
            <a:pPr marL="285750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2000"/>
              <a:t>When GNSS is unavailable:</a:t>
            </a:r>
          </a:p>
          <a:p>
            <a:pPr marL="468630" lvl="1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1800"/>
              <a:t>In GNSS‑denied environments, navigation relies solely on IMU/INS </a:t>
            </a:r>
          </a:p>
          <a:p>
            <a:pPr marL="468630" lvl="1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1800"/>
              <a:t>IMU/INS accumulate errors and require periodic calibration</a:t>
            </a:r>
          </a:p>
          <a:p>
            <a:pPr marL="285750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2000"/>
              <a:t>We need a solution that is un-jammable, available, and reliable</a:t>
            </a:r>
          </a:p>
          <a:p>
            <a:pPr marL="285750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2000"/>
              <a:t>VLF offers a global, low-frequency alternative:</a:t>
            </a:r>
          </a:p>
          <a:p>
            <a:pPr marL="468630" lvl="1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1800"/>
              <a:t>Robust, independent, and deeply penetrating</a:t>
            </a:r>
          </a:p>
          <a:p>
            <a:pPr marL="468630" lvl="1" indent="-285750" defTabSz="914400" eaLnBrk="0" fontAlgn="base" hangingPunct="0">
              <a:spcAft>
                <a:spcPct val="0"/>
              </a:spcAft>
              <a:buSzTx/>
            </a:pPr>
            <a:r>
              <a:rPr lang="en-US" altLang="en-US" sz="1800"/>
              <a:t>Capable of extracting precise bearing — even in noisy, imperfect environments</a:t>
            </a:r>
          </a:p>
        </p:txBody>
      </p:sp>
    </p:spTree>
    <p:extLst>
      <p:ext uri="{BB962C8B-B14F-4D97-AF65-F5344CB8AC3E}">
        <p14:creationId xmlns:p14="http://schemas.microsoft.com/office/powerpoint/2010/main" val="200245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83E2-4B7A-4C8A-DF92-86AAA63E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Is VLF and 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9A14-1534-F0BA-5BE7-4BEFAEDE1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/>
              <a:t>Frequency range: 10–80 kHz – ideal for long‑distance propagation</a:t>
            </a:r>
          </a:p>
          <a:p>
            <a:r>
              <a:rPr lang="en-US" sz="1800"/>
              <a:t>Propagation modes:</a:t>
            </a:r>
          </a:p>
          <a:p>
            <a:pPr lvl="1"/>
            <a:r>
              <a:rPr lang="en-US" sz="1600"/>
              <a:t>Ground wave — hugging the Earth’s surface</a:t>
            </a:r>
          </a:p>
          <a:p>
            <a:pPr lvl="1"/>
            <a:r>
              <a:rPr lang="en-US" sz="1600"/>
              <a:t>Skywave — reflecting from the ionosphere</a:t>
            </a:r>
          </a:p>
          <a:p>
            <a:pPr lvl="1"/>
            <a:r>
              <a:rPr lang="en-US" sz="1600"/>
              <a:t>Penetrates seawater, soil, and dense structures</a:t>
            </a:r>
          </a:p>
          <a:p>
            <a:r>
              <a:rPr lang="en-US" sz="1800"/>
              <a:t>Applications:</a:t>
            </a:r>
          </a:p>
          <a:p>
            <a:pPr lvl="1"/>
            <a:r>
              <a:rPr lang="en-US" sz="1600"/>
              <a:t>Submarine communication</a:t>
            </a:r>
          </a:p>
          <a:p>
            <a:pPr lvl="1"/>
            <a:r>
              <a:rPr lang="en-US" sz="1600"/>
              <a:t>Time synchronization (e.g., WWVB at 60 kHz, DCF77 at 77.5 kHz)</a:t>
            </a:r>
          </a:p>
          <a:p>
            <a:pPr lvl="1"/>
            <a:r>
              <a:rPr lang="en-US" sz="1600">
                <a:solidFill>
                  <a:srgbClr val="491E88"/>
                </a:solidFill>
              </a:rPr>
              <a:t>Resilient navigation — extracting bearing when GPS is denied</a:t>
            </a:r>
          </a:p>
          <a:p>
            <a:r>
              <a:rPr lang="en-US" sz="1800"/>
              <a:t>Losses:</a:t>
            </a:r>
          </a:p>
          <a:p>
            <a:pPr lvl="1"/>
            <a:r>
              <a:rPr lang="en-US" sz="1600"/>
              <a:t>Daytime attenuation: ~2–3 dB per 1000 km</a:t>
            </a:r>
          </a:p>
          <a:p>
            <a:pPr lvl="1"/>
            <a:r>
              <a:rPr lang="en-US" sz="1600"/>
              <a:t>Nighttime attenuation: ~1–2 dB per 1000 km</a:t>
            </a:r>
          </a:p>
          <a:p>
            <a:pPr lvl="1"/>
            <a:r>
              <a:rPr lang="en-US" sz="1600"/>
              <a:t>Saltwater penetration: ~10 dB per meter (usable only to shallow depths)</a:t>
            </a:r>
          </a:p>
          <a:p>
            <a:pPr lvl="1"/>
            <a:r>
              <a:rPr lang="en-US" sz="1600"/>
              <a:t>Rock/mountain penetration: ~20 dB per 100 m (strongly dependent on geology)</a:t>
            </a:r>
          </a:p>
        </p:txBody>
      </p:sp>
    </p:spTree>
    <p:extLst>
      <p:ext uri="{BB962C8B-B14F-4D97-AF65-F5344CB8AC3E}">
        <p14:creationId xmlns:p14="http://schemas.microsoft.com/office/powerpoint/2010/main" val="1035366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8E6D-D1D3-251F-413F-8B25C154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D037-5C8C-B256-400E-079DC098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F51B-19EA-B7A1-C3DE-BE9BEAF9E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Multipath distortion </a:t>
            </a:r>
          </a:p>
          <a:p>
            <a:pPr lvl="1"/>
            <a:r>
              <a:rPr lang="en-US" sz="1800"/>
              <a:t>Multiple Earth–ionosphere modes cause fading and bearing ambiguity</a:t>
            </a:r>
          </a:p>
          <a:p>
            <a:r>
              <a:rPr lang="en-US" sz="2000"/>
              <a:t>Low SNR </a:t>
            </a:r>
          </a:p>
          <a:p>
            <a:pPr lvl="1"/>
            <a:r>
              <a:rPr lang="en-US" sz="1800"/>
              <a:t>Atmospheric and industrial noise dominate the VLF band</a:t>
            </a:r>
          </a:p>
          <a:p>
            <a:r>
              <a:rPr lang="en-US" sz="2000"/>
              <a:t>Hardware imperfections </a:t>
            </a:r>
          </a:p>
          <a:p>
            <a:pPr lvl="1"/>
            <a:r>
              <a:rPr lang="en-US" sz="1800"/>
              <a:t>Vibration and misalignment introduce systematic errors</a:t>
            </a:r>
          </a:p>
          <a:p>
            <a:r>
              <a:rPr lang="en-US" sz="2000"/>
              <a:t>Calibration drift </a:t>
            </a:r>
          </a:p>
          <a:p>
            <a:pPr lvl="1"/>
            <a:r>
              <a:rPr lang="en-US" sz="1800"/>
              <a:t>GNSS denial leads to IMU/INS bias accumulation</a:t>
            </a:r>
          </a:p>
          <a:p>
            <a:r>
              <a:rPr lang="en-US" sz="2000"/>
              <a:t>Environmental losses </a:t>
            </a:r>
          </a:p>
          <a:p>
            <a:pPr lvl="1"/>
            <a:r>
              <a:rPr lang="en-US" sz="1800"/>
              <a:t>Salt water: ~10 dB/m; rock: ~20–40 dB/100 m</a:t>
            </a:r>
          </a:p>
          <a:p>
            <a:r>
              <a:rPr lang="en-US" sz="2000"/>
              <a:t>Installation losses </a:t>
            </a:r>
          </a:p>
          <a:p>
            <a:pPr lvl="1"/>
            <a:r>
              <a:rPr lang="en-US" sz="1800"/>
              <a:t>Coil orientation, shielding, and vibration degrade sensitivity</a:t>
            </a:r>
          </a:p>
        </p:txBody>
      </p:sp>
    </p:spTree>
    <p:extLst>
      <p:ext uri="{BB962C8B-B14F-4D97-AF65-F5344CB8AC3E}">
        <p14:creationId xmlns:p14="http://schemas.microsoft.com/office/powerpoint/2010/main" val="3092722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6B6C-663F-3F7F-2A34-5C740833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CE64C-9008-1528-CC41-9CDEE7B45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532049"/>
            <a:ext cx="8458200" cy="4255549"/>
          </a:xfrm>
        </p:spPr>
        <p:txBody>
          <a:bodyPr/>
          <a:lstStyle/>
          <a:p>
            <a:r>
              <a:rPr lang="en-US" sz="2000"/>
              <a:t>Adaptive filtering </a:t>
            </a:r>
          </a:p>
          <a:p>
            <a:pPr lvl="1"/>
            <a:r>
              <a:rPr lang="en-US" sz="1800"/>
              <a:t>LMS/RLS algorithms suppress interference and enhance weak signals</a:t>
            </a:r>
          </a:p>
          <a:p>
            <a:r>
              <a:rPr lang="en-US" sz="2000"/>
              <a:t>Differential null steering </a:t>
            </a:r>
          </a:p>
          <a:p>
            <a:pPr lvl="1"/>
            <a:r>
              <a:rPr lang="en-US" sz="1800"/>
              <a:t>Multi‑coil arrays cancel dominant noise and multipath arrivals</a:t>
            </a:r>
          </a:p>
          <a:p>
            <a:r>
              <a:rPr lang="en-US" sz="2000"/>
              <a:t>Calibration routines </a:t>
            </a:r>
          </a:p>
          <a:p>
            <a:pPr lvl="1"/>
            <a:r>
              <a:rPr lang="en-US" sz="1800"/>
              <a:t>Regular reference checks and adaptive calibration during missions to minimize bias and correct IMU/INS drift</a:t>
            </a:r>
          </a:p>
          <a:p>
            <a:r>
              <a:rPr lang="en-US" sz="2000"/>
              <a:t>Diversity reception </a:t>
            </a:r>
          </a:p>
          <a:p>
            <a:pPr lvl="1"/>
            <a:r>
              <a:rPr lang="en-US" sz="1800"/>
              <a:t>Spatial, temporal, and frequency diversity reduce fading and ambiguity</a:t>
            </a:r>
          </a:p>
          <a:p>
            <a:r>
              <a:rPr lang="en-US" sz="2000"/>
              <a:t>Installation optimization </a:t>
            </a:r>
          </a:p>
          <a:p>
            <a:pPr lvl="1"/>
            <a:r>
              <a:rPr lang="en-US" sz="1800"/>
              <a:t>Precise coil alignment, shielding, and vibration control improve sensitivity</a:t>
            </a:r>
          </a:p>
          <a:p>
            <a:r>
              <a:rPr lang="en-US" sz="2000"/>
              <a:t>Environmental awareness </a:t>
            </a:r>
          </a:p>
          <a:p>
            <a:pPr lvl="1"/>
            <a:r>
              <a:rPr lang="en-US" sz="1800"/>
              <a:t>Modeled attenuation guides depth limits and path selection for reliable reception</a:t>
            </a:r>
          </a:p>
        </p:txBody>
      </p:sp>
    </p:spTree>
    <p:extLst>
      <p:ext uri="{BB962C8B-B14F-4D97-AF65-F5344CB8AC3E}">
        <p14:creationId xmlns:p14="http://schemas.microsoft.com/office/powerpoint/2010/main" val="1201312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B666-5F69-FA06-A353-72D91982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5786-3DF9-3E1B-9E48-32AF890F9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Applications and Benefits of GNSSless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BCDC-9D9D-4B6E-3AB8-4F5FC150F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532049"/>
            <a:ext cx="8458200" cy="4349045"/>
          </a:xfrm>
        </p:spPr>
        <p:txBody>
          <a:bodyPr/>
          <a:lstStyle/>
          <a:p>
            <a:r>
              <a:rPr lang="en-US" sz="1800"/>
              <a:t>Primary Application: </a:t>
            </a:r>
            <a:r>
              <a:rPr lang="en-US" sz="1600"/>
              <a:t>Air Drones</a:t>
            </a:r>
          </a:p>
          <a:p>
            <a:pPr lvl="1"/>
            <a:r>
              <a:rPr lang="en-US" sz="1600"/>
              <a:t>Enables GNSS-free navigation with IMU-based accuracy of ~100 m over multi-hour missions</a:t>
            </a:r>
          </a:p>
          <a:p>
            <a:pPr lvl="1"/>
            <a:r>
              <a:rPr lang="en-US" sz="1600"/>
              <a:t>Anti-spoofing sensor for drones, general and commercial aviation</a:t>
            </a:r>
          </a:p>
          <a:p>
            <a:r>
              <a:rPr lang="en-US" sz="1800"/>
              <a:t>Submarine Drones</a:t>
            </a:r>
          </a:p>
          <a:p>
            <a:pPr lvl="1"/>
            <a:r>
              <a:rPr lang="en-US" sz="1600"/>
              <a:t>Solves the lack of safe underwater navigation solutions</a:t>
            </a:r>
          </a:p>
          <a:p>
            <a:pPr lvl="1"/>
            <a:r>
              <a:rPr lang="en-US" sz="1600">
                <a:solidFill>
                  <a:srgbClr val="7030A0"/>
                </a:solidFill>
              </a:rPr>
              <a:t>The only passive navigation available for underwater drones</a:t>
            </a:r>
          </a:p>
          <a:p>
            <a:r>
              <a:rPr lang="en-US" sz="1800"/>
              <a:t>Underground Drones</a:t>
            </a:r>
          </a:p>
          <a:p>
            <a:pPr lvl="1"/>
            <a:r>
              <a:rPr lang="en-US" sz="1600"/>
              <a:t>Enables reliable tunnel navigation where GNSS is unavailable</a:t>
            </a:r>
          </a:p>
          <a:p>
            <a:r>
              <a:rPr lang="en-US" sz="1800"/>
              <a:t>Key Benefits:</a:t>
            </a:r>
          </a:p>
          <a:p>
            <a:pPr lvl="1"/>
            <a:r>
              <a:rPr lang="en-US" sz="1600"/>
              <a:t>Immune to jamming and spoofing</a:t>
            </a:r>
          </a:p>
          <a:p>
            <a:pPr lvl="1"/>
            <a:r>
              <a:rPr lang="en-US" sz="1600"/>
              <a:t>Accurate heading and true North reporting</a:t>
            </a:r>
          </a:p>
          <a:p>
            <a:r>
              <a:rPr lang="en-US" sz="1800"/>
              <a:t>Derived Capabilities:</a:t>
            </a:r>
          </a:p>
          <a:p>
            <a:pPr lvl="1"/>
            <a:r>
              <a:rPr lang="en-US" sz="1600"/>
              <a:t>Gyrocompass</a:t>
            </a:r>
          </a:p>
          <a:p>
            <a:pPr lvl="1"/>
            <a:r>
              <a:rPr lang="en-US" sz="1600"/>
              <a:t>Rotation detector</a:t>
            </a:r>
          </a:p>
          <a:p>
            <a:pPr marL="9144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63161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7AAC9-5E47-983F-52C6-2CAE21989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46734DF-CCA0-F15B-BFF0-1AAB05831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5" t="22129" r="4274" b="16623"/>
          <a:stretch>
            <a:fillRect/>
          </a:stretch>
        </p:blipFill>
        <p:spPr>
          <a:xfrm>
            <a:off x="135249" y="1410515"/>
            <a:ext cx="2422338" cy="21790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967CEA-06F4-9239-ED0C-CF78A807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86DD9-E0FF-33F2-9393-F6D6E6A50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7515" y="653343"/>
            <a:ext cx="6246687" cy="4134255"/>
          </a:xfrm>
        </p:spPr>
        <p:txBody>
          <a:bodyPr/>
          <a:lstStyle/>
          <a:p>
            <a:r>
              <a:rPr lang="en-US" sz="2000"/>
              <a:t>There are three coils in the system</a:t>
            </a:r>
          </a:p>
          <a:p>
            <a:r>
              <a:rPr lang="en-US" sz="2000"/>
              <a:t>Signals from each coil are amplified and digitized</a:t>
            </a:r>
          </a:p>
          <a:p>
            <a:r>
              <a:rPr lang="en-US" sz="2000"/>
              <a:t> Our algorithm extracts line‑of‑bearing (</a:t>
            </a:r>
            <a:r>
              <a:rPr lang="en-US" sz="2000" err="1"/>
              <a:t>LoB</a:t>
            </a:r>
            <a:r>
              <a:rPr lang="en-US" sz="2000"/>
              <a:t>) and finds the direction to each source</a:t>
            </a:r>
          </a:p>
          <a:p>
            <a:r>
              <a:rPr lang="en-US" sz="2000"/>
              <a:t>There are more than 30 VLF </a:t>
            </a:r>
            <a:r>
              <a:rPr lang="en-US" sz="2000" err="1"/>
              <a:t>Txs</a:t>
            </a:r>
            <a:r>
              <a:rPr lang="en-US" sz="2000"/>
              <a:t> around the world</a:t>
            </a:r>
          </a:p>
          <a:p>
            <a:r>
              <a:rPr lang="en-US" sz="2000"/>
              <a:t>The RF power of these sources is hundreds of kW, few of them are MW and more</a:t>
            </a:r>
          </a:p>
          <a:p>
            <a:r>
              <a:rPr lang="en-US" sz="2000"/>
              <a:t>These are un-jammable sources with known locations</a:t>
            </a:r>
          </a:p>
          <a:p>
            <a:r>
              <a:rPr lang="en-US" sz="2000"/>
              <a:t>We plan to use the </a:t>
            </a:r>
            <a:r>
              <a:rPr lang="en-US" sz="2000" err="1"/>
              <a:t>LoB</a:t>
            </a:r>
            <a:r>
              <a:rPr lang="en-US" sz="2000"/>
              <a:t> to these sources to define:</a:t>
            </a:r>
          </a:p>
          <a:p>
            <a:pPr lvl="1"/>
            <a:r>
              <a:rPr lang="en-US" sz="1800"/>
              <a:t>The heading</a:t>
            </a:r>
          </a:p>
          <a:p>
            <a:pPr lvl="1"/>
            <a:r>
              <a:rPr lang="en-US" sz="1800"/>
              <a:t>The location</a:t>
            </a:r>
          </a:p>
          <a:p>
            <a:pPr lvl="1"/>
            <a:r>
              <a:rPr lang="en-US" sz="1800"/>
              <a:t>The vector of our speed (later)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45D425-72A1-908F-6EF4-73875CD05413}"/>
              </a:ext>
            </a:extLst>
          </p:cNvPr>
          <p:cNvSpPr txBox="1"/>
          <p:nvPr/>
        </p:nvSpPr>
        <p:spPr>
          <a:xfrm>
            <a:off x="1247908" y="4010812"/>
            <a:ext cx="697627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Coils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8F425D-9150-250B-6EE2-B2747E22B2D8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299681" y="2984643"/>
            <a:ext cx="297041" cy="1026169"/>
          </a:xfrm>
          <a:prstGeom prst="straightConnector1">
            <a:avLst/>
          </a:prstGeom>
          <a:ln w="9525" cmpd="sng"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CECDF-3445-7BB2-0510-28E26DC61561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405829" y="2229492"/>
            <a:ext cx="1190893" cy="1781320"/>
          </a:xfrm>
          <a:prstGeom prst="straightConnector1">
            <a:avLst/>
          </a:prstGeom>
          <a:ln w="9525" cmpd="sng"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AD0593-6C81-2103-44C9-A5509020960E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596722" y="1833379"/>
            <a:ext cx="234510" cy="2177433"/>
          </a:xfrm>
          <a:prstGeom prst="straightConnector1">
            <a:avLst/>
          </a:prstGeom>
          <a:ln w="9525" cmpd="sng"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05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6F9F6-4C3E-3B49-1D53-E889CDB62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6A7A-EFFE-571D-2B3A-9BC8E105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Two signals from NAA and WWVB are used for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D08A-D106-F0FA-D493-AE579DCE1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653343"/>
            <a:ext cx="4091776" cy="4134255"/>
          </a:xfrm>
        </p:spPr>
        <p:txBody>
          <a:bodyPr/>
          <a:lstStyle/>
          <a:p>
            <a:r>
              <a:rPr lang="en-US" sz="1800" b="1"/>
              <a:t>NAA:</a:t>
            </a:r>
            <a:endParaRPr lang="en-US" sz="1800"/>
          </a:p>
          <a:p>
            <a:pPr lvl="1"/>
            <a:r>
              <a:rPr lang="en-US" sz="1600"/>
              <a:t>Location: Cutler, Maine (44.65°N, 67.28°W)</a:t>
            </a:r>
          </a:p>
          <a:p>
            <a:pPr lvl="1"/>
            <a:r>
              <a:rPr lang="en-US" sz="1600"/>
              <a:t>Frequency: 24.0 kHz</a:t>
            </a:r>
          </a:p>
          <a:p>
            <a:pPr lvl="1"/>
            <a:r>
              <a:rPr lang="en-US" sz="1600"/>
              <a:t>Power: ~1,000 kW</a:t>
            </a:r>
          </a:p>
          <a:p>
            <a:r>
              <a:rPr lang="en-US" sz="1800" b="1"/>
              <a:t>WWVB:</a:t>
            </a:r>
            <a:endParaRPr lang="en-US" sz="1800"/>
          </a:p>
          <a:p>
            <a:pPr lvl="1"/>
            <a:r>
              <a:rPr lang="en-US" sz="1600"/>
              <a:t>Location: Fort Collins, Colorado (40.68°N, 105.04°W)</a:t>
            </a:r>
          </a:p>
          <a:p>
            <a:pPr lvl="1"/>
            <a:r>
              <a:rPr lang="en-US" sz="1600"/>
              <a:t>Frequency: 60.0 kHz</a:t>
            </a:r>
          </a:p>
          <a:p>
            <a:pPr lvl="1"/>
            <a:r>
              <a:rPr lang="en-US" sz="1600"/>
              <a:t>Power: ~70 kW</a:t>
            </a:r>
          </a:p>
          <a:p>
            <a:r>
              <a:rPr lang="en-US" sz="1800" b="1"/>
              <a:t>Distances:</a:t>
            </a:r>
            <a:endParaRPr lang="en-US" sz="1800"/>
          </a:p>
          <a:p>
            <a:r>
              <a:rPr lang="en-US" sz="1800"/>
              <a:t>Cutler → Leesburg, VA: ~1,000 km</a:t>
            </a:r>
          </a:p>
          <a:p>
            <a:r>
              <a:rPr lang="en-US" sz="1800"/>
              <a:t>WWVB → Leesburg, VA: ~2,400 km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CFF35F-A5FC-3B02-88DC-58A47E9E3F9E}"/>
              </a:ext>
            </a:extLst>
          </p:cNvPr>
          <p:cNvSpPr txBox="1">
            <a:spLocks/>
          </p:cNvSpPr>
          <p:nvPr/>
        </p:nvSpPr>
        <p:spPr>
          <a:xfrm>
            <a:off x="4756194" y="653343"/>
            <a:ext cx="4229924" cy="4134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288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–"/>
              <a:def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Field Strength in Leesburg, VA</a:t>
            </a:r>
          </a:p>
          <a:p>
            <a:r>
              <a:rPr lang="en-US" sz="1800" b="1"/>
              <a:t>NAA (24 kHz):</a:t>
            </a:r>
            <a:endParaRPr lang="en-US" sz="1800"/>
          </a:p>
          <a:p>
            <a:pPr lvl="1"/>
            <a:r>
              <a:rPr lang="en-US" sz="1600"/>
              <a:t>Distance ≈ 1,000 km</a:t>
            </a:r>
          </a:p>
          <a:p>
            <a:pPr lvl="1"/>
            <a:r>
              <a:rPr lang="en-US" sz="1600"/>
              <a:t>Loss ≈ 3 dB</a:t>
            </a:r>
          </a:p>
          <a:p>
            <a:pPr lvl="1"/>
            <a:r>
              <a:rPr lang="en-US" sz="1600"/>
              <a:t>Field ≈ 3–10 mV/m</a:t>
            </a:r>
          </a:p>
          <a:p>
            <a:r>
              <a:rPr lang="en-US" sz="1800" b="1"/>
              <a:t>WWVB (60 kHz):</a:t>
            </a:r>
            <a:endParaRPr lang="en-US" sz="1800"/>
          </a:p>
          <a:p>
            <a:pPr lvl="1"/>
            <a:r>
              <a:rPr lang="en-US" sz="1600"/>
              <a:t>Distance ≈ 2,400 km</a:t>
            </a:r>
          </a:p>
          <a:p>
            <a:pPr lvl="1"/>
            <a:r>
              <a:rPr lang="en-US" sz="1600"/>
              <a:t>Loss ≈ 8 dB</a:t>
            </a:r>
          </a:p>
          <a:p>
            <a:pPr lvl="1"/>
            <a:r>
              <a:rPr lang="en-US" sz="1600"/>
              <a:t>Field ≈ 0.3–1 mV/m</a:t>
            </a:r>
          </a:p>
        </p:txBody>
      </p:sp>
    </p:spTree>
    <p:extLst>
      <p:ext uri="{BB962C8B-B14F-4D97-AF65-F5344CB8AC3E}">
        <p14:creationId xmlns:p14="http://schemas.microsoft.com/office/powerpoint/2010/main" val="1887032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28FE-5AE5-9D3C-DE3E-765CEEAA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F18E-2D1D-76F8-3F62-0A8D43BC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Transmitters, Locations, Power, Field Strength &amp; SNR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F5EF23-A7DF-9A76-C5BC-617A32AF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NAA (Cutler, Maine)</a:t>
            </a:r>
          </a:p>
          <a:p>
            <a:pPr lvl="1"/>
            <a:r>
              <a:rPr lang="en-US"/>
              <a:t>Frequency: 24.0 kHz</a:t>
            </a:r>
          </a:p>
          <a:p>
            <a:pPr lvl="1"/>
            <a:r>
              <a:rPr lang="en-US"/>
              <a:t>Transmitter input power: ~1.8–2.0 MW</a:t>
            </a:r>
          </a:p>
          <a:p>
            <a:pPr lvl="1"/>
            <a:r>
              <a:rPr lang="en-US"/>
              <a:t>Antenna: large VLF umbrella array, highly efficient for groundwave/earth‑ionosphere waveguide</a:t>
            </a:r>
          </a:p>
          <a:p>
            <a:pPr lvl="1"/>
            <a:r>
              <a:rPr lang="en-US"/>
              <a:t>Propagation: ~1000 km groundwave path to Leesburg, VA</a:t>
            </a:r>
          </a:p>
          <a:p>
            <a:pPr lvl="1"/>
            <a:r>
              <a:rPr lang="en-US"/>
              <a:t>Estimated field strength at Newtown: ~70–80 </a:t>
            </a:r>
            <a:r>
              <a:rPr lang="en-US" err="1"/>
              <a:t>dBµV</a:t>
            </a:r>
            <a:r>
              <a:rPr lang="en-US"/>
              <a:t>/m (≈ 3–10 mV/m) daytime, higher at night</a:t>
            </a:r>
          </a:p>
          <a:p>
            <a:pPr lvl="1"/>
            <a:r>
              <a:rPr lang="en-US"/>
              <a:t>Induced coil voltage (55 turns, D = 50 mm): ~150–300 µV RMS</a:t>
            </a:r>
          </a:p>
          <a:p>
            <a:pPr lvl="1"/>
            <a:r>
              <a:rPr lang="en-US"/>
              <a:t>Estimated total noise (BW = 220 Hz): ~8–12 µV RMS (at coil), dominated by atmospheric + man-made</a:t>
            </a:r>
          </a:p>
          <a:p>
            <a:pPr lvl="1"/>
            <a:r>
              <a:rPr lang="en-US">
                <a:solidFill>
                  <a:srgbClr val="7030A0"/>
                </a:solidFill>
              </a:rPr>
              <a:t>SNR ~ 24 to 31dB. We measured SNR~ 26dB in Leesburg, VA</a:t>
            </a:r>
          </a:p>
          <a:p>
            <a:r>
              <a:rPr lang="en-US" b="1"/>
              <a:t>WWVB (Fort Collins, Colorado)</a:t>
            </a:r>
          </a:p>
          <a:p>
            <a:pPr lvl="1"/>
            <a:r>
              <a:rPr lang="en-US"/>
              <a:t>Frequency: 60.0 kHz</a:t>
            </a:r>
          </a:p>
          <a:p>
            <a:pPr lvl="1"/>
            <a:r>
              <a:rPr lang="en-US"/>
              <a:t>Effective radiated power (ERP): ~70 kW</a:t>
            </a:r>
          </a:p>
          <a:p>
            <a:pPr lvl="1"/>
            <a:r>
              <a:rPr lang="en-US"/>
              <a:t>Antenna: phased vertical monopoles, optimized for LF time service</a:t>
            </a:r>
          </a:p>
          <a:p>
            <a:pPr lvl="1"/>
            <a:r>
              <a:rPr lang="en-US"/>
              <a:t>Propagation: ~2,400 km groundwave/skywave path to Leesburg, VA</a:t>
            </a:r>
          </a:p>
          <a:p>
            <a:pPr lvl="1"/>
            <a:r>
              <a:rPr lang="en-US"/>
              <a:t>Estimated field strength at Newtown: ~50–60 </a:t>
            </a:r>
            <a:r>
              <a:rPr lang="en-US" err="1"/>
              <a:t>dBµV</a:t>
            </a:r>
            <a:r>
              <a:rPr lang="en-US"/>
              <a:t>/m (≈ 0.3–1 mV/m), stronger during nighttime dark‑path conditions</a:t>
            </a:r>
          </a:p>
          <a:p>
            <a:pPr lvl="1"/>
            <a:r>
              <a:rPr lang="en-US"/>
              <a:t>Induced coil voltage (55 turns, D = 50 mm): ~20–60 µV RMS</a:t>
            </a:r>
          </a:p>
          <a:p>
            <a:pPr lvl="1"/>
            <a:r>
              <a:rPr lang="en-US"/>
              <a:t>Estimated total noise (BW = 10 Hz): ~0.5–0.8 µV RMS (at coil), dominated by atmospheric + man-made</a:t>
            </a:r>
          </a:p>
          <a:p>
            <a:pPr lvl="1"/>
            <a:r>
              <a:rPr lang="en-US">
                <a:solidFill>
                  <a:srgbClr val="7030A0"/>
                </a:solidFill>
              </a:rPr>
              <a:t>SNR ~ 32 to 41dB. We measured SNR~ 35dB in Leesburg, VA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59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1C6FB-66C6-73C8-9CE6-5EC621B9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Available VLF transmitters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D3EEA5C-0C43-CD49-AB1B-837EAFE7D3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261632"/>
              </p:ext>
            </p:extLst>
          </p:nvPr>
        </p:nvGraphicFramePr>
        <p:xfrm>
          <a:off x="121576" y="711843"/>
          <a:ext cx="8893662" cy="3890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3183993" imgH="10144108" progId="Excel.Sheet.12">
                  <p:embed/>
                </p:oleObj>
              </mc:Choice>
              <mc:Fallback>
                <p:oleObj name="Worksheet" r:id="rId2" imgW="23183993" imgH="10144108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D3EEA5C-0C43-CD49-AB1B-837EAFE7D3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576" y="711843"/>
                        <a:ext cx="8893662" cy="3890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5831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87C94-A7E1-2EE6-ACAE-B05CCB1BC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Are the signals available anywhere?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FFFE4-42B0-79D5-5549-3F79D7E64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3349375"/>
            <a:ext cx="8458200" cy="1438223"/>
          </a:xfrm>
        </p:spPr>
        <p:txBody>
          <a:bodyPr/>
          <a:lstStyle/>
          <a:p>
            <a:r>
              <a:rPr lang="en-US"/>
              <a:t>Lagos worst cases (NAA, NWC low ends) and Jakarta (DHO38) clearly drop below 20 dB during thunderstorms</a:t>
            </a:r>
          </a:p>
          <a:p>
            <a:r>
              <a:rPr lang="en-US"/>
              <a:t>São Paulo, weaker daytime paths (e.g., DHO38 low end) land near or under 20 dB tropical storm</a:t>
            </a:r>
          </a:p>
          <a:p>
            <a:r>
              <a:rPr lang="en-US"/>
              <a:t>Other places have better signal strength</a:t>
            </a:r>
          </a:p>
          <a:p>
            <a:r>
              <a:rPr lang="en-US"/>
              <a:t>Our accuracy will be limited to +/-0.5deg RMS with SNR ~20dB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E7F880B-4DFC-7DF7-3CA0-753E13F00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128697"/>
              </p:ext>
            </p:extLst>
          </p:nvPr>
        </p:nvGraphicFramePr>
        <p:xfrm>
          <a:off x="400692" y="857591"/>
          <a:ext cx="8229600" cy="237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229590" imgH="2371844" progId="Excel.Sheet.12">
                  <p:embed/>
                </p:oleObj>
              </mc:Choice>
              <mc:Fallback>
                <p:oleObj name="Worksheet" r:id="rId2" imgW="8229590" imgH="2371844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E7F880B-4DFC-7DF7-3CA0-753E13F002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0692" y="857591"/>
                        <a:ext cx="8229600" cy="237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3032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DB80-8AB7-9777-5552-FD8463A6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was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7913-5C03-16FE-E52C-060098446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653343"/>
            <a:ext cx="8595038" cy="4134255"/>
          </a:xfrm>
        </p:spPr>
        <p:txBody>
          <a:bodyPr/>
          <a:lstStyle/>
          <a:p>
            <a:r>
              <a:rPr lang="en-US" sz="2000"/>
              <a:t>We developed small current‑source antennas (diameter 50 mm)</a:t>
            </a:r>
          </a:p>
          <a:p>
            <a:r>
              <a:rPr lang="en-US" sz="2000"/>
              <a:t>Built and optimized Trans Impedance Amplifiers (TIA) with gain of 10/100k</a:t>
            </a:r>
          </a:p>
          <a:p>
            <a:r>
              <a:rPr lang="en-US" sz="2000"/>
              <a:t>The system with 3 antennas (0, 120, 240 deg)</a:t>
            </a:r>
          </a:p>
          <a:p>
            <a:r>
              <a:rPr lang="en-US" sz="2000"/>
              <a:t>We digitize the signal with 500ksps/8 bit digital scope</a:t>
            </a:r>
          </a:p>
          <a:p>
            <a:pPr lvl="1"/>
            <a:r>
              <a:rPr lang="en-US" sz="1800"/>
              <a:t>This is a bottleneck in terms of noise</a:t>
            </a:r>
          </a:p>
          <a:p>
            <a:pPr lvl="1"/>
            <a:r>
              <a:rPr lang="en-US" sz="1800"/>
              <a:t>We plan to use 32-bit ADC ($3 for 4 inputs) for a product</a:t>
            </a:r>
          </a:p>
          <a:p>
            <a:r>
              <a:rPr lang="en-US" sz="2000"/>
              <a:t>We optimize the algorithm for direction finding</a:t>
            </a:r>
          </a:p>
          <a:p>
            <a:r>
              <a:rPr lang="en-US" sz="2000"/>
              <a:t>We finished the calibration and measured the accuracy</a:t>
            </a:r>
          </a:p>
          <a:p>
            <a:r>
              <a:rPr lang="en-US" sz="2000"/>
              <a:t>Built a GUI and analyze the results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66005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B31F-B049-EAFB-868D-8F8355534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Proof of Concept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AC34C-3621-881B-AE37-01ABD0127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532049"/>
            <a:ext cx="8458200" cy="4255549"/>
          </a:xfrm>
        </p:spPr>
        <p:txBody>
          <a:bodyPr/>
          <a:lstStyle/>
          <a:p>
            <a:r>
              <a:rPr lang="en-US" sz="2000"/>
              <a:t>Setup</a:t>
            </a:r>
          </a:p>
          <a:p>
            <a:pPr lvl="1"/>
            <a:r>
              <a:rPr lang="en-US" sz="1800"/>
              <a:t>Simple multi‑coil array, basic filtering, minimal calibration</a:t>
            </a:r>
          </a:p>
          <a:p>
            <a:pPr lvl="1"/>
            <a:r>
              <a:rPr lang="en-US" sz="1800"/>
              <a:t>Test frequency range: 10–80 kHz</a:t>
            </a:r>
          </a:p>
          <a:p>
            <a:r>
              <a:rPr lang="en-US" sz="2000"/>
              <a:t>Key observations</a:t>
            </a:r>
          </a:p>
          <a:p>
            <a:pPr lvl="1"/>
            <a:r>
              <a:rPr lang="en-US" sz="1800"/>
              <a:t>Bearing extraction feasible despite multipath and noise</a:t>
            </a:r>
          </a:p>
          <a:p>
            <a:pPr lvl="1"/>
            <a:r>
              <a:rPr lang="en-US" sz="1800"/>
              <a:t>Installation losses measurable but manageable with calibration</a:t>
            </a:r>
          </a:p>
          <a:p>
            <a:r>
              <a:rPr lang="en-US" sz="2000"/>
              <a:t>Performance metrics</a:t>
            </a:r>
          </a:p>
          <a:p>
            <a:pPr lvl="1"/>
            <a:r>
              <a:rPr lang="en-US" sz="1800"/>
              <a:t>Bearing accuracy: &lt;1° RMS with 1 sec reporting, &lt;0.3deg with 10sec reporting</a:t>
            </a:r>
          </a:p>
          <a:p>
            <a:pPr lvl="1"/>
            <a:r>
              <a:rPr lang="en-US" sz="1800"/>
              <a:t>Target: &lt;0.5deg per sec and 0.2 deg per 10sec</a:t>
            </a:r>
          </a:p>
          <a:p>
            <a:pPr lvl="1"/>
            <a:r>
              <a:rPr lang="en-US" sz="1800"/>
              <a:t>SNR improvement: 12 dB after adaptive filtering</a:t>
            </a:r>
          </a:p>
          <a:p>
            <a:r>
              <a:rPr lang="en-US" sz="2200"/>
              <a:t>Implications</a:t>
            </a:r>
          </a:p>
          <a:p>
            <a:pPr lvl="1"/>
            <a:r>
              <a:rPr lang="en-US" sz="1800"/>
              <a:t>Confirms viability of VLF for resilient navigation</a:t>
            </a:r>
          </a:p>
          <a:p>
            <a:pPr lvl="1"/>
            <a:r>
              <a:rPr lang="en-US" sz="1800"/>
              <a:t>Provides baseline for advanced filtering and calibration routines</a:t>
            </a:r>
          </a:p>
        </p:txBody>
      </p:sp>
    </p:spTree>
    <p:extLst>
      <p:ext uri="{BB962C8B-B14F-4D97-AF65-F5344CB8AC3E}">
        <p14:creationId xmlns:p14="http://schemas.microsoft.com/office/powerpoint/2010/main" val="3266751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3A579-9006-11C0-72DF-14B82DC4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Channel signals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27FC3-5B24-3598-418A-04C447C56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indent="-173355"/>
            <a:endParaRPr lang="en-US">
              <a:solidFill>
                <a:srgbClr val="0A0A0A"/>
              </a:solidFill>
              <a:cs typeface="Arial"/>
            </a:endParaRPr>
          </a:p>
          <a:p>
            <a:pPr indent="-173355"/>
            <a:endParaRPr lang="en-US">
              <a:cs typeface="Arial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0D26EC4-411C-AABB-A3F5-1B0A588A9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59" y="531002"/>
            <a:ext cx="6459141" cy="3193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10A438-4112-2A6C-A004-2FCF2671C4C9}"/>
              </a:ext>
            </a:extLst>
          </p:cNvPr>
          <p:cNvSpPr txBox="1"/>
          <p:nvPr/>
        </p:nvSpPr>
        <p:spPr>
          <a:xfrm>
            <a:off x="345281" y="3679031"/>
            <a:ext cx="601146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Colors: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Red:  Channel 1 – the antenna oriented at 0 deg.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Green: Channel 2 – the antenna oriented at +120 deg.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Blue: Channel 3 – the antenna oriented at -120 deg.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35931-E621-2D1A-78D9-B57F89087879}"/>
              </a:ext>
            </a:extLst>
          </p:cNvPr>
          <p:cNvSpPr txBox="1"/>
          <p:nvPr/>
        </p:nvSpPr>
        <p:spPr>
          <a:xfrm>
            <a:off x="267890" y="654843"/>
            <a:ext cx="241577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Left: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Received signal time waveform. Duration 1.4 second, Sample rate 500 kHz.</a:t>
            </a:r>
          </a:p>
          <a:p>
            <a:r>
              <a:rPr lang="en-US">
                <a:cs typeface="Arial"/>
              </a:rPr>
              <a:t>Right: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Power spectrum of the received signal from 23 to 63 kHz.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3D73-D55A-3D0A-BCE0-35041A1FA487}"/>
              </a:ext>
            </a:extLst>
          </p:cNvPr>
          <p:cNvSpPr txBox="1"/>
          <p:nvPr/>
        </p:nvSpPr>
        <p:spPr>
          <a:xfrm>
            <a:off x="6506765" y="3911203"/>
            <a:ext cx="263604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Black: Channel 4 - Not currently used, reserved for future development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46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E6BA-12C4-CC06-A5B0-158DFC90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Signal Spectrum with Color-Coded </a:t>
            </a:r>
            <a:r>
              <a:rPr lang="en-US" err="1">
                <a:cs typeface="Arial"/>
              </a:rPr>
              <a:t>AoA</a:t>
            </a:r>
            <a:endParaRPr lang="en-US" err="1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695FF-E4BA-207C-6A3F-1813F9093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5681" y="613433"/>
            <a:ext cx="6309536" cy="3066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527CA-2240-1CF3-9DC8-2F5A23D104F3}"/>
              </a:ext>
            </a:extLst>
          </p:cNvPr>
          <p:cNvSpPr txBox="1"/>
          <p:nvPr/>
        </p:nvSpPr>
        <p:spPr>
          <a:xfrm>
            <a:off x="267890" y="654843"/>
            <a:ext cx="241577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Top figure: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Black:  Signal FFT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Yellow: FFT mean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Red:    FFT max.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White:  FFT min.</a:t>
            </a:r>
          </a:p>
          <a:p>
            <a:r>
              <a:rPr lang="en-US">
                <a:cs typeface="Arial"/>
              </a:rPr>
              <a:t>Bottom: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Spectrum history showing power and direction of last 16 measurements.</a:t>
            </a:r>
          </a:p>
          <a:p>
            <a:endParaRPr lang="en-US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A5496-E984-62AC-3717-1329230BF9B6}"/>
              </a:ext>
            </a:extLst>
          </p:cNvPr>
          <p:cNvSpPr txBox="1"/>
          <p:nvPr/>
        </p:nvSpPr>
        <p:spPr>
          <a:xfrm>
            <a:off x="345281" y="3679031"/>
            <a:ext cx="69163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Frequency increases left to right from 23 to 63 kHz.</a:t>
            </a:r>
            <a:endParaRPr lang="en-US"/>
          </a:p>
          <a:p>
            <a:r>
              <a:rPr lang="en-US">
                <a:cs typeface="Arial"/>
              </a:rPr>
              <a:t>Most recent measurement is on top, oldest – on the bottom.</a:t>
            </a:r>
            <a:endParaRPr lang="en-US"/>
          </a:p>
          <a:p>
            <a:r>
              <a:rPr lang="en-US">
                <a:cs typeface="Arial"/>
              </a:rPr>
              <a:t>Power level is coded with brightness.</a:t>
            </a:r>
          </a:p>
          <a:p>
            <a:r>
              <a:rPr lang="en-US">
                <a:cs typeface="Arial"/>
              </a:rPr>
              <a:t>Direction is coded with combining colors: Ant.1-red,2-green,3-blue.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F5A5C-BF94-0DFE-D824-BE8AA5ACB820}"/>
              </a:ext>
            </a:extLst>
          </p:cNvPr>
          <p:cNvSpPr txBox="1"/>
          <p:nvPr/>
        </p:nvSpPr>
        <p:spPr>
          <a:xfrm>
            <a:off x="7334250" y="3845718"/>
            <a:ext cx="18085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Antenna was rotated 30 deg. at the middle.</a:t>
            </a:r>
          </a:p>
        </p:txBody>
      </p:sp>
    </p:spTree>
    <p:extLst>
      <p:ext uri="{BB962C8B-B14F-4D97-AF65-F5344CB8AC3E}">
        <p14:creationId xmlns:p14="http://schemas.microsoft.com/office/powerpoint/2010/main" val="2243165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721B-519B-4857-D03F-6BBDCBD5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Reference at 0 degree true angle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394D71-4DAC-5228-763B-C1F031F21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026" y="654387"/>
            <a:ext cx="6386511" cy="31379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9D19B-9E6C-B756-0D62-5591645F3AED}"/>
              </a:ext>
            </a:extLst>
          </p:cNvPr>
          <p:cNvSpPr txBox="1"/>
          <p:nvPr/>
        </p:nvSpPr>
        <p:spPr>
          <a:xfrm>
            <a:off x="267890" y="654843"/>
            <a:ext cx="241577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Left figure:</a:t>
            </a:r>
          </a:p>
          <a:p>
            <a:r>
              <a:rPr lang="en-US">
                <a:cs typeface="Arial"/>
              </a:rPr>
              <a:t>Ticks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Blue – 10 deg.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Green – 30 deg.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Yellow – 90 deg.</a:t>
            </a:r>
          </a:p>
          <a:p>
            <a:r>
              <a:rPr lang="en-US">
                <a:cs typeface="Arial"/>
              </a:rPr>
              <a:t>Measurements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Green – sources reference angles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Red – combined reference angle</a:t>
            </a:r>
          </a:p>
          <a:p>
            <a:endParaRPr lang="en-US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7073A-3044-2480-C5BE-03BECEC0AB32}"/>
              </a:ext>
            </a:extLst>
          </p:cNvPr>
          <p:cNvSpPr txBox="1"/>
          <p:nvPr/>
        </p:nvSpPr>
        <p:spPr>
          <a:xfrm>
            <a:off x="166688" y="3452812"/>
            <a:ext cx="79640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Right top: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Combined reference angle history for last 16 consecutive measurements</a:t>
            </a:r>
          </a:p>
          <a:p>
            <a:r>
              <a:rPr lang="en-US">
                <a:cs typeface="Arial"/>
              </a:rPr>
              <a:t>Right bottom: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Signal detection parameters                  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Theodolite availability and readings</a:t>
            </a:r>
          </a:p>
        </p:txBody>
      </p:sp>
    </p:spTree>
    <p:extLst>
      <p:ext uri="{BB962C8B-B14F-4D97-AF65-F5344CB8AC3E}">
        <p14:creationId xmlns:p14="http://schemas.microsoft.com/office/powerpoint/2010/main" val="3211681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72D5C-A17B-407C-4188-BB07347E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66289"/>
            <a:ext cx="8458200" cy="523129"/>
          </a:xfrm>
        </p:spPr>
        <p:txBody>
          <a:bodyPr/>
          <a:lstStyle/>
          <a:p>
            <a:r>
              <a:rPr lang="en-US">
                <a:cs typeface="Arial"/>
              </a:rPr>
              <a:t>Reference immediately after 0 to 30 degree rotation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C5C9F3-20DB-685A-0BC4-4FDB537CE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2712" y="655231"/>
            <a:ext cx="6512201" cy="313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4B9FB-4EB5-23CB-91DD-D0801DD7F0E3}"/>
              </a:ext>
            </a:extLst>
          </p:cNvPr>
          <p:cNvSpPr txBox="1"/>
          <p:nvPr/>
        </p:nvSpPr>
        <p:spPr>
          <a:xfrm>
            <a:off x="267890" y="654843"/>
            <a:ext cx="241577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Left figure:</a:t>
            </a:r>
          </a:p>
          <a:p>
            <a:r>
              <a:rPr lang="en-US">
                <a:cs typeface="Arial"/>
              </a:rPr>
              <a:t>Ticks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Blue – 10 deg.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Green – 30 deg.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Yellow – 90 deg.</a:t>
            </a:r>
          </a:p>
          <a:p>
            <a:r>
              <a:rPr lang="en-US">
                <a:cs typeface="Arial"/>
              </a:rPr>
              <a:t>Measurements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Green – sources reference angles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Red – combined reference angle</a:t>
            </a:r>
          </a:p>
          <a:p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3AF66-799F-9AFE-8020-BF74BDFD213D}"/>
              </a:ext>
            </a:extLst>
          </p:cNvPr>
          <p:cNvSpPr txBox="1"/>
          <p:nvPr/>
        </p:nvSpPr>
        <p:spPr>
          <a:xfrm>
            <a:off x="166688" y="3452812"/>
            <a:ext cx="79640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Right top: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Combined reference angle history for last 16 consecutive measurements</a:t>
            </a:r>
          </a:p>
          <a:p>
            <a:r>
              <a:rPr lang="en-US">
                <a:cs typeface="Arial"/>
              </a:rPr>
              <a:t>Right bottom: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Signal detection parameters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Theodolite availability and readings</a:t>
            </a:r>
          </a:p>
        </p:txBody>
      </p:sp>
    </p:spTree>
    <p:extLst>
      <p:ext uri="{BB962C8B-B14F-4D97-AF65-F5344CB8AC3E}">
        <p14:creationId xmlns:p14="http://schemas.microsoft.com/office/powerpoint/2010/main" val="3251651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E167-F881-8A6D-63EB-FAAE82819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Reference at 330 degree true angle</a:t>
            </a:r>
            <a:endParaRPr lang="en-US" b="0">
              <a:solidFill>
                <a:srgbClr val="000000"/>
              </a:solidFill>
              <a:cs typeface="Arial"/>
            </a:endParaRP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8CC3A0-FD52-A1B2-CF39-03BC6BAC6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8899" y="652040"/>
            <a:ext cx="6339561" cy="3139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91F5BF-8EFC-95E8-C037-B3EED2F30F36}"/>
              </a:ext>
            </a:extLst>
          </p:cNvPr>
          <p:cNvSpPr txBox="1"/>
          <p:nvPr/>
        </p:nvSpPr>
        <p:spPr>
          <a:xfrm>
            <a:off x="267890" y="654843"/>
            <a:ext cx="241577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Left figure:</a:t>
            </a:r>
          </a:p>
          <a:p>
            <a:r>
              <a:rPr lang="en-US">
                <a:cs typeface="Arial"/>
              </a:rPr>
              <a:t>Ticks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Blue – 10 deg.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Green – 30 deg.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Yellow – 90 deg.</a:t>
            </a:r>
          </a:p>
          <a:p>
            <a:r>
              <a:rPr lang="en-US">
                <a:cs typeface="Arial"/>
              </a:rPr>
              <a:t>Measurements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Green – sources reference angles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Red – combined reference angle</a:t>
            </a:r>
          </a:p>
          <a:p>
            <a:endParaRPr lang="en-US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4A9D1-250B-0127-F1B2-F6DB721773ED}"/>
              </a:ext>
            </a:extLst>
          </p:cNvPr>
          <p:cNvSpPr txBox="1"/>
          <p:nvPr/>
        </p:nvSpPr>
        <p:spPr>
          <a:xfrm>
            <a:off x="166688" y="3452812"/>
            <a:ext cx="79640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Right top: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Combined reference angle history for last 16 consecutive measurements</a:t>
            </a:r>
          </a:p>
          <a:p>
            <a:r>
              <a:rPr lang="en-US">
                <a:cs typeface="Arial"/>
              </a:rPr>
              <a:t>Right bottom: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Signal detection parameters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Theodolite availability and readings</a:t>
            </a:r>
          </a:p>
        </p:txBody>
      </p:sp>
    </p:spTree>
    <p:extLst>
      <p:ext uri="{BB962C8B-B14F-4D97-AF65-F5344CB8AC3E}">
        <p14:creationId xmlns:p14="http://schemas.microsoft.com/office/powerpoint/2010/main" val="2914738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74DF-4C44-C419-B4D7-7FFC6C57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24 kHz Source at 30 degree true angle</a:t>
            </a:r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076FE8-86A1-7720-29F7-8A95E94CE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5118" y="656133"/>
            <a:ext cx="6113342" cy="29962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D9D9AF-EDFF-925B-0347-0A39294BC338}"/>
              </a:ext>
            </a:extLst>
          </p:cNvPr>
          <p:cNvSpPr txBox="1"/>
          <p:nvPr/>
        </p:nvSpPr>
        <p:spPr>
          <a:xfrm>
            <a:off x="267890" y="654843"/>
            <a:ext cx="241577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Left top figure: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Brown: </a:t>
            </a:r>
            <a:r>
              <a:rPr lang="en-US" err="1">
                <a:cs typeface="Arial"/>
              </a:rPr>
              <a:t>Src</a:t>
            </a:r>
            <a:r>
              <a:rPr lang="en-US">
                <a:cs typeface="Arial"/>
              </a:rPr>
              <a:t>. FFT,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Yellow: FFT mean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Black: Signal presence indicator</a:t>
            </a:r>
          </a:p>
          <a:p>
            <a:r>
              <a:rPr lang="en-US">
                <a:cs typeface="Arial"/>
              </a:rPr>
              <a:t>Left bottom: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Brown: Measured current source arrival angle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Red: Source reference angle</a:t>
            </a:r>
          </a:p>
          <a:p>
            <a:pPr marL="285750" indent="-285750">
              <a:buFont typeface="Calibri"/>
              <a:buChar char="-"/>
            </a:pPr>
            <a:endParaRPr lang="en-US"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0CC57-CA34-A68B-DAA4-6444EFD6420F}"/>
              </a:ext>
            </a:extLst>
          </p:cNvPr>
          <p:cNvSpPr txBox="1"/>
          <p:nvPr/>
        </p:nvSpPr>
        <p:spPr>
          <a:xfrm>
            <a:off x="345281" y="3679031"/>
            <a:ext cx="84522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Right top: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Detector Parameters (SNR, Peak to Average Ratio, FFT-Mean NCC)</a:t>
            </a:r>
          </a:p>
          <a:p>
            <a:r>
              <a:rPr lang="en-US">
                <a:cs typeface="Arial"/>
              </a:rPr>
              <a:t>Right bottom: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Reference angle history for last 16 consecutive measurements</a:t>
            </a:r>
          </a:p>
        </p:txBody>
      </p:sp>
    </p:spTree>
    <p:extLst>
      <p:ext uri="{BB962C8B-B14F-4D97-AF65-F5344CB8AC3E}">
        <p14:creationId xmlns:p14="http://schemas.microsoft.com/office/powerpoint/2010/main" val="3280005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901B-C6B6-DF5D-3619-3180B4EB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25.2 kHz Source at 30 degree true angle</a:t>
            </a:r>
            <a:endParaRPr lang="en-US" b="0">
              <a:solidFill>
                <a:srgbClr val="000000"/>
              </a:solidFill>
              <a:cs typeface="Arial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75545C-36F0-3255-2712-D928C94E2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5117" y="657350"/>
            <a:ext cx="6113343" cy="3022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2BD0D6-AF69-BCEB-AB6D-5BED56B07DFA}"/>
              </a:ext>
            </a:extLst>
          </p:cNvPr>
          <p:cNvSpPr txBox="1"/>
          <p:nvPr/>
        </p:nvSpPr>
        <p:spPr>
          <a:xfrm>
            <a:off x="267890" y="654843"/>
            <a:ext cx="241577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Left top figure: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Green: </a:t>
            </a:r>
            <a:r>
              <a:rPr lang="en-US" err="1">
                <a:cs typeface="Arial"/>
              </a:rPr>
              <a:t>Src</a:t>
            </a:r>
            <a:r>
              <a:rPr lang="en-US">
                <a:cs typeface="Arial"/>
              </a:rPr>
              <a:t>. FFT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Yellow: FFT mean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Black: Signal presence indicator</a:t>
            </a:r>
          </a:p>
          <a:p>
            <a:r>
              <a:rPr lang="en-US">
                <a:cs typeface="Arial"/>
              </a:rPr>
              <a:t>Left bottom: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Green: Measured current source arrival angle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Red: Source reference angle</a:t>
            </a:r>
          </a:p>
          <a:p>
            <a:pPr marL="285750" indent="-285750">
              <a:buFont typeface="Calibri"/>
              <a:buChar char="-"/>
            </a:pPr>
            <a:endParaRPr lang="en-US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59162-F9DA-F032-A8E2-505401F9034D}"/>
              </a:ext>
            </a:extLst>
          </p:cNvPr>
          <p:cNvSpPr txBox="1"/>
          <p:nvPr/>
        </p:nvSpPr>
        <p:spPr>
          <a:xfrm>
            <a:off x="345281" y="3679031"/>
            <a:ext cx="84522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Right top: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Detector Parameters (SNR, Peak to Average Ratio, FFT-Mean NCC)</a:t>
            </a:r>
          </a:p>
          <a:p>
            <a:r>
              <a:rPr lang="en-US">
                <a:cs typeface="Arial"/>
              </a:rPr>
              <a:t>Right bottom: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Arial"/>
              </a:rPr>
              <a:t>Reference angle history for last 16 consecutive measurements</a:t>
            </a:r>
          </a:p>
        </p:txBody>
      </p:sp>
    </p:spTree>
    <p:extLst>
      <p:ext uri="{BB962C8B-B14F-4D97-AF65-F5344CB8AC3E}">
        <p14:creationId xmlns:p14="http://schemas.microsoft.com/office/powerpoint/2010/main" val="3573485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6F88-5BDB-39B2-82FE-E1EA48C1E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66289"/>
            <a:ext cx="8458200" cy="794385"/>
          </a:xfrm>
        </p:spPr>
        <p:txBody>
          <a:bodyPr/>
          <a:lstStyle/>
          <a:p>
            <a:pPr algn="ctr"/>
            <a:r>
              <a:rPr lang="en-US"/>
              <a:t>Proof of Concept Results: </a:t>
            </a:r>
            <a:br>
              <a:rPr lang="en-US"/>
            </a:br>
            <a:r>
              <a:rPr lang="en-US"/>
              <a:t>Bearing Accuracy for </a:t>
            </a:r>
            <a:r>
              <a:rPr lang="en-US" sz="2800">
                <a:solidFill>
                  <a:srgbClr val="4D9ACD"/>
                </a:solidFill>
              </a:rPr>
              <a:t>uncalibrated</a:t>
            </a:r>
            <a:r>
              <a:rPr lang="en-US"/>
              <a:t> system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0684B9-286D-7147-E4A2-9DE0AFA9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3419341"/>
            <a:ext cx="8588599" cy="1368258"/>
          </a:xfrm>
        </p:spPr>
        <p:txBody>
          <a:bodyPr/>
          <a:lstStyle/>
          <a:p>
            <a:r>
              <a:rPr lang="en-US" sz="1800"/>
              <a:t>All measurements are done without pre-calibration</a:t>
            </a:r>
          </a:p>
          <a:p>
            <a:r>
              <a:rPr lang="en-US" sz="1800"/>
              <a:t>The integration of 16 samples, which corresponds &lt;1sec in real HW (DSP+CPU)</a:t>
            </a:r>
          </a:p>
          <a:p>
            <a:r>
              <a:rPr lang="en-US" sz="1800"/>
              <a:t>The accuracy of 0.1 deg could be achieved within 10sec or with more sources</a:t>
            </a:r>
          </a:p>
          <a:p>
            <a:r>
              <a:rPr lang="en-US" sz="1800"/>
              <a:t>All angles are in deg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492D717-695A-2BB7-CFB6-7FFBE6C91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059688"/>
              </p:ext>
            </p:extLst>
          </p:nvPr>
        </p:nvGraphicFramePr>
        <p:xfrm>
          <a:off x="896847" y="1003919"/>
          <a:ext cx="6156361" cy="237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53090" imgH="1600064" progId="Excel.Sheet.12">
                  <p:embed/>
                </p:oleObj>
              </mc:Choice>
              <mc:Fallback>
                <p:oleObj name="Worksheet" r:id="rId2" imgW="4153090" imgH="1600064" progId="Excel.Shee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492D717-695A-2BB7-CFB6-7FFBE6C91F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6847" y="1003919"/>
                        <a:ext cx="6156361" cy="2372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6320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4AC6-2457-CEFE-1A95-FA537534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49" y="166289"/>
            <a:ext cx="8925059" cy="365760"/>
          </a:xfrm>
        </p:spPr>
        <p:txBody>
          <a:bodyPr/>
          <a:lstStyle/>
          <a:p>
            <a:pPr algn="ctr"/>
            <a:r>
              <a:rPr lang="en-US">
                <a:solidFill>
                  <a:srgbClr val="491E88"/>
                </a:solidFill>
                <a:cs typeface="Arial"/>
              </a:rPr>
              <a:t>Bearing Error (peak) vs. SNR (best and simulated)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F7277-B096-0958-56D7-1C6336BBF8C3}"/>
              </a:ext>
            </a:extLst>
          </p:cNvPr>
          <p:cNvSpPr txBox="1"/>
          <p:nvPr/>
        </p:nvSpPr>
        <p:spPr>
          <a:xfrm>
            <a:off x="1307" y="5195696"/>
            <a:ext cx="676339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The simulation corresponds to the observations on the hardware</a:t>
            </a:r>
            <a:endParaRPr lang="en-US">
              <a:cs typeface="Arial"/>
            </a:endParaRPr>
          </a:p>
        </p:txBody>
      </p:sp>
      <p:pic>
        <p:nvPicPr>
          <p:cNvPr id="8" name="Picture 7" descr="A graph of a line&#10;&#10;AI-generated content may be incorrect.">
            <a:extLst>
              <a:ext uri="{FF2B5EF4-FFF2-40B4-BE49-F238E27FC236}">
                <a16:creationId xmlns:a16="http://schemas.microsoft.com/office/drawing/2014/main" id="{099F07E1-4EA4-4D01-1514-FA03EB94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1" y="663907"/>
            <a:ext cx="8265319" cy="41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56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E02D-1012-A0A5-B2C4-DD4DB5F8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0CBEF-7B77-70C8-2979-6516C17AF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Collect the information for all sources in the world</a:t>
            </a:r>
          </a:p>
          <a:p>
            <a:r>
              <a:rPr lang="en-US" sz="2000"/>
              <a:t>Build a test head: VLF detector with an Internet interface</a:t>
            </a:r>
          </a:p>
          <a:p>
            <a:pPr lvl="1"/>
            <a:r>
              <a:rPr lang="en-US" sz="1800"/>
              <a:t>Deploy these units globally to collect data</a:t>
            </a:r>
          </a:p>
          <a:p>
            <a:pPr lvl="1"/>
            <a:r>
              <a:rPr lang="en-US" sz="1800"/>
              <a:t>Process the data and optimize the direction finding</a:t>
            </a:r>
          </a:p>
          <a:p>
            <a:r>
              <a:rPr lang="en-US" sz="2000"/>
              <a:t>Develop a four‑antenna product (see next slide)</a:t>
            </a:r>
          </a:p>
          <a:p>
            <a:pPr lvl="1"/>
            <a:r>
              <a:rPr lang="en-US" sz="1800"/>
              <a:t>Low cost, small size, light weight</a:t>
            </a:r>
          </a:p>
          <a:p>
            <a:r>
              <a:rPr lang="en-US" sz="2000"/>
              <a:t>Test VLF with IMU in GNSS denied environment </a:t>
            </a:r>
          </a:p>
          <a:p>
            <a:r>
              <a:rPr lang="en-US" sz="2000"/>
              <a:t>Calibrate over the tilt, temperature, and elevation</a:t>
            </a:r>
          </a:p>
          <a:p>
            <a:r>
              <a:rPr lang="en-US" sz="2000"/>
              <a:t>Integrate VLF with IMU and build INS on this integration</a:t>
            </a:r>
          </a:p>
          <a:p>
            <a:r>
              <a:rPr lang="en-US" sz="2000"/>
              <a:t>File two non-provisional applications</a:t>
            </a:r>
          </a:p>
          <a:p>
            <a:r>
              <a:rPr lang="en-US" sz="2000"/>
              <a:t>Prepare for carrier phase tracking, which allow to see any horizontal displacements with the accuracy of few meters</a:t>
            </a:r>
          </a:p>
        </p:txBody>
      </p:sp>
    </p:spTree>
    <p:extLst>
      <p:ext uri="{BB962C8B-B14F-4D97-AF65-F5344CB8AC3E}">
        <p14:creationId xmlns:p14="http://schemas.microsoft.com/office/powerpoint/2010/main" val="200459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19852-2CC0-A6D3-8EC1-B1DC3D67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26CA5FC-6B0A-93DD-039D-2BFEBD745C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77" r="95"/>
          <a:stretch>
            <a:fillRect/>
          </a:stretch>
        </p:blipFill>
        <p:spPr>
          <a:xfrm>
            <a:off x="1653410" y="866571"/>
            <a:ext cx="1744704" cy="125720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89D4A4D-F353-68E2-1226-74FE10C5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Next product: VLF receiver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F8AC8-4E86-8B1E-3B38-D9BC5E6525B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342900" y="3189291"/>
            <a:ext cx="8590478" cy="1598307"/>
          </a:xfrm>
        </p:spPr>
        <p:txBody>
          <a:bodyPr/>
          <a:lstStyle/>
          <a:p>
            <a:r>
              <a:rPr lang="en-US"/>
              <a:t>Build 4 antenna system, print antennas on PCB (~$10) plus 4LNAs ($10)</a:t>
            </a:r>
          </a:p>
          <a:p>
            <a:r>
              <a:rPr lang="en-US"/>
              <a:t>The signals from 4 antennas are digitized by PCM6140-Q1 quad ADC (~$5)</a:t>
            </a:r>
          </a:p>
          <a:p>
            <a:r>
              <a:rPr lang="en-US"/>
              <a:t>Then processed by AM62D (DSP + 4 ARMs) (~$25)</a:t>
            </a:r>
          </a:p>
          <a:p>
            <a:r>
              <a:rPr lang="en-US"/>
              <a:t>Sent to the interfaces (~$10)</a:t>
            </a:r>
          </a:p>
          <a:p>
            <a:r>
              <a:rPr lang="en-US"/>
              <a:t>Expected cost of goods (</a:t>
            </a:r>
            <a:r>
              <a:rPr lang="en-US" err="1"/>
              <a:t>CoG</a:t>
            </a:r>
            <a:r>
              <a:rPr lang="en-US"/>
              <a:t>): ~$100</a:t>
            </a:r>
          </a:p>
          <a:p>
            <a:r>
              <a:rPr lang="en-US"/>
              <a:t>Expected size 100x100x60mm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CC485-6BB9-4BD7-1EC9-B8C0438AE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745" y="778389"/>
            <a:ext cx="1306707" cy="142586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E352EB2-4D79-349F-9526-356112204C5E}"/>
              </a:ext>
            </a:extLst>
          </p:cNvPr>
          <p:cNvGrpSpPr/>
          <p:nvPr/>
        </p:nvGrpSpPr>
        <p:grpSpPr>
          <a:xfrm rot="11807598">
            <a:off x="657113" y="921944"/>
            <a:ext cx="544575" cy="931964"/>
            <a:chOff x="847618" y="821933"/>
            <a:chExt cx="544575" cy="9319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9C557D-C5AC-8AE1-7501-90B833CC0579}"/>
                </a:ext>
              </a:extLst>
            </p:cNvPr>
            <p:cNvSpPr/>
            <p:nvPr/>
          </p:nvSpPr>
          <p:spPr>
            <a:xfrm>
              <a:off x="847618" y="821933"/>
              <a:ext cx="77056" cy="3657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118635-3876-A47D-C188-337B0CD85624}"/>
                </a:ext>
              </a:extLst>
            </p:cNvPr>
            <p:cNvSpPr/>
            <p:nvPr/>
          </p:nvSpPr>
          <p:spPr>
            <a:xfrm rot="2700000">
              <a:off x="1082211" y="904126"/>
              <a:ext cx="77056" cy="3657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713317-A076-B80B-EBE9-52B4F7A1AFBF}"/>
                </a:ext>
              </a:extLst>
            </p:cNvPr>
            <p:cNvSpPr/>
            <p:nvPr/>
          </p:nvSpPr>
          <p:spPr>
            <a:xfrm rot="5400000">
              <a:off x="1170785" y="1146132"/>
              <a:ext cx="77056" cy="3657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9E9907-9F9F-479C-0DA7-A0195E143558}"/>
                </a:ext>
              </a:extLst>
            </p:cNvPr>
            <p:cNvSpPr/>
            <p:nvPr/>
          </p:nvSpPr>
          <p:spPr>
            <a:xfrm rot="8100000">
              <a:off x="1082212" y="1388137"/>
              <a:ext cx="77056" cy="3657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16850AC-8F7D-D002-9853-BE47F8BC245C}"/>
              </a:ext>
            </a:extLst>
          </p:cNvPr>
          <p:cNvSpPr/>
          <p:nvPr/>
        </p:nvSpPr>
        <p:spPr>
          <a:xfrm>
            <a:off x="528632" y="833438"/>
            <a:ext cx="795338" cy="119699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FFC320-5A47-8FA3-1146-753D50C1FB46}"/>
              </a:ext>
            </a:extLst>
          </p:cNvPr>
          <p:cNvSpPr/>
          <p:nvPr/>
        </p:nvSpPr>
        <p:spPr>
          <a:xfrm>
            <a:off x="5404874" y="778389"/>
            <a:ext cx="952500" cy="142586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95DC7-CDC1-DD95-D14D-C7E773FBBB71}"/>
              </a:ext>
            </a:extLst>
          </p:cNvPr>
          <p:cNvSpPr txBox="1"/>
          <p:nvPr/>
        </p:nvSpPr>
        <p:spPr>
          <a:xfrm>
            <a:off x="284645" y="2111076"/>
            <a:ext cx="11096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4 VLF antennas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7CD73-AF5D-F3C4-C9C5-B0F2C2C192AE}"/>
              </a:ext>
            </a:extLst>
          </p:cNvPr>
          <p:cNvSpPr txBox="1"/>
          <p:nvPr/>
        </p:nvSpPr>
        <p:spPr>
          <a:xfrm>
            <a:off x="1932001" y="2268193"/>
            <a:ext cx="11096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4 audio ADCs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5F003F-CFA4-A9B1-12CE-BFF23DA8FA7B}"/>
              </a:ext>
            </a:extLst>
          </p:cNvPr>
          <p:cNvSpPr txBox="1"/>
          <p:nvPr/>
        </p:nvSpPr>
        <p:spPr>
          <a:xfrm>
            <a:off x="3631744" y="2425310"/>
            <a:ext cx="11096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AM62D TI DSP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F04AD-974C-4882-51DB-DCAAC77C0A95}"/>
              </a:ext>
            </a:extLst>
          </p:cNvPr>
          <p:cNvSpPr txBox="1"/>
          <p:nvPr/>
        </p:nvSpPr>
        <p:spPr>
          <a:xfrm>
            <a:off x="5492980" y="1336523"/>
            <a:ext cx="11096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Interfaces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E9368B0-77EB-F91A-D8CC-3BC9A6BDBEC6}"/>
              </a:ext>
            </a:extLst>
          </p:cNvPr>
          <p:cNvSpPr txBox="1">
            <a:spLocks/>
          </p:cNvSpPr>
          <p:nvPr/>
        </p:nvSpPr>
        <p:spPr>
          <a:xfrm flipH="1">
            <a:off x="6445480" y="833438"/>
            <a:ext cx="2575440" cy="2528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288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–"/>
              <a:def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3736" algn="l" defTabSz="457189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§"/>
              <a:def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Reports </a:t>
            </a:r>
            <a:r>
              <a:rPr lang="en-US" err="1"/>
              <a:t>LoB</a:t>
            </a:r>
            <a:r>
              <a:rPr lang="en-US"/>
              <a:t> to all visible sources</a:t>
            </a:r>
          </a:p>
          <a:p>
            <a:r>
              <a:rPr lang="en-US"/>
              <a:t>Report heading</a:t>
            </a:r>
          </a:p>
          <a:p>
            <a:r>
              <a:rPr lang="en-US"/>
              <a:t>Report the speed (vector)</a:t>
            </a:r>
          </a:p>
          <a:p>
            <a:r>
              <a:rPr lang="en-US"/>
              <a:t>Calculate the location</a:t>
            </a:r>
          </a:p>
          <a:p>
            <a:r>
              <a:rPr lang="en-US"/>
              <a:t>All information from VLF sources, no GNSS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F7E82949-ECB9-5096-6595-D0B5504C8991}"/>
              </a:ext>
            </a:extLst>
          </p:cNvPr>
          <p:cNvSpPr/>
          <p:nvPr/>
        </p:nvSpPr>
        <p:spPr>
          <a:xfrm>
            <a:off x="1376357" y="1382660"/>
            <a:ext cx="247346" cy="99781"/>
          </a:xfrm>
          <a:prstGeom prst="rightArrow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0D09CA2-C404-2FCA-424F-E369B2D2EEAD}"/>
              </a:ext>
            </a:extLst>
          </p:cNvPr>
          <p:cNvSpPr/>
          <p:nvPr/>
        </p:nvSpPr>
        <p:spPr>
          <a:xfrm>
            <a:off x="3327777" y="1377179"/>
            <a:ext cx="247346" cy="99781"/>
          </a:xfrm>
          <a:prstGeom prst="rightArrow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EC5EE01-9D39-934F-B9EB-128F1409B354}"/>
              </a:ext>
            </a:extLst>
          </p:cNvPr>
          <p:cNvSpPr/>
          <p:nvPr/>
        </p:nvSpPr>
        <p:spPr>
          <a:xfrm>
            <a:off x="5018136" y="1359852"/>
            <a:ext cx="247346" cy="99781"/>
          </a:xfrm>
          <a:prstGeom prst="rightArrow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91643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238D-E060-EF13-BF35-1742EADF6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7B35-12E9-047C-E80A-13BDFD72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Crazy approach for low-cost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6F35-BCAC-0565-78A7-3CA8547F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532049"/>
            <a:ext cx="8458200" cy="4255549"/>
          </a:xfrm>
        </p:spPr>
        <p:txBody>
          <a:bodyPr/>
          <a:lstStyle/>
          <a:p>
            <a:r>
              <a:rPr lang="en-US" sz="1800"/>
              <a:t>Market Context</a:t>
            </a:r>
          </a:p>
          <a:p>
            <a:pPr lvl="1"/>
            <a:r>
              <a:rPr lang="en-US" sz="1600"/>
              <a:t>Worldwide annual production of military low-cost drones: hundreds of thousands</a:t>
            </a:r>
          </a:p>
          <a:p>
            <a:pPr lvl="1"/>
            <a:r>
              <a:rPr lang="en-US" sz="1600"/>
              <a:t>Market value: $40B in 2024, projected to nearly double by 2030</a:t>
            </a:r>
          </a:p>
          <a:p>
            <a:pPr lvl="1"/>
            <a:r>
              <a:rPr lang="en-US" sz="1600"/>
              <a:t>Drone unit cost: as low as $2,000</a:t>
            </a:r>
          </a:p>
          <a:p>
            <a:pPr lvl="1"/>
            <a:r>
              <a:rPr lang="en-US" sz="1600"/>
              <a:t>Navigation budget per drone: &lt; $1,000</a:t>
            </a:r>
          </a:p>
          <a:p>
            <a:r>
              <a:rPr lang="en-US" sz="1800"/>
              <a:t>Current Limitations</a:t>
            </a:r>
          </a:p>
          <a:p>
            <a:pPr lvl="1"/>
            <a:r>
              <a:rPr lang="en-US" sz="1600"/>
              <a:t>Advanced navigation technologies (</a:t>
            </a:r>
            <a:r>
              <a:rPr lang="en-US" sz="1600" err="1"/>
              <a:t>TwoSents</a:t>
            </a:r>
            <a:r>
              <a:rPr lang="en-US" sz="1600"/>
              <a:t>, PAA, CRPA) → Too expensive for low-cost drones</a:t>
            </a:r>
          </a:p>
          <a:p>
            <a:r>
              <a:rPr lang="en-US" sz="1800"/>
              <a:t>Proposed Solution</a:t>
            </a:r>
          </a:p>
          <a:p>
            <a:pPr lvl="1"/>
            <a:r>
              <a:rPr lang="en-US" sz="1600"/>
              <a:t>Hybrid Navigation System (</a:t>
            </a:r>
            <a:r>
              <a:rPr lang="en-US" sz="1600" err="1"/>
              <a:t>Unspoofable</a:t>
            </a:r>
            <a:r>
              <a:rPr lang="en-US" sz="1600"/>
              <a:t> + </a:t>
            </a:r>
            <a:r>
              <a:rPr lang="en-US" sz="1600" err="1"/>
              <a:t>Unjammable</a:t>
            </a:r>
            <a:r>
              <a:rPr lang="en-US" sz="1600"/>
              <a:t>):</a:t>
            </a:r>
          </a:p>
          <a:p>
            <a:pPr lvl="1"/>
            <a:r>
              <a:rPr lang="en-US" sz="1600"/>
              <a:t>VLF Navigation – ~$100</a:t>
            </a:r>
          </a:p>
          <a:p>
            <a:pPr lvl="1"/>
            <a:r>
              <a:rPr lang="en-US" sz="1600"/>
              <a:t>Low-Cost GNSS Receiver – ~$100</a:t>
            </a:r>
          </a:p>
          <a:p>
            <a:pPr lvl="1"/>
            <a:r>
              <a:rPr lang="en-US" sz="1600"/>
              <a:t>Low-Cost IMU – ~$100 </a:t>
            </a:r>
          </a:p>
          <a:p>
            <a:pPr lvl="1"/>
            <a:r>
              <a:rPr lang="en-US" sz="1600"/>
              <a:t>Total </a:t>
            </a:r>
            <a:r>
              <a:rPr lang="en-US" sz="1600" err="1"/>
              <a:t>CoG</a:t>
            </a:r>
            <a:r>
              <a:rPr lang="en-US" sz="1600"/>
              <a:t> &lt; $500 including assembly and test (at 100k units/year)</a:t>
            </a:r>
          </a:p>
          <a:p>
            <a:r>
              <a:rPr lang="en-US" sz="1800">
                <a:solidFill>
                  <a:srgbClr val="7030A0"/>
                </a:solidFill>
              </a:rPr>
              <a:t>Acknowledgment: Big thanks to Anton B. for his ideas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67247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64752-B469-B3EB-9556-4B7D3560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CD1F-A436-F0F4-A002-2B14666B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Emerging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9F1D5-6EEC-AFC1-3520-D0EA65DA7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Aviation resilience</a:t>
            </a:r>
          </a:p>
          <a:p>
            <a:pPr lvl="1"/>
            <a:r>
              <a:rPr lang="en-US" sz="2000"/>
              <a:t>Backup heading and positioning when GNSS is jammed or denied</a:t>
            </a:r>
          </a:p>
          <a:p>
            <a:pPr lvl="1"/>
            <a:r>
              <a:rPr lang="en-US" sz="2000"/>
              <a:t>Integration with cockpit INS for long‑haul flights</a:t>
            </a:r>
          </a:p>
          <a:p>
            <a:r>
              <a:rPr lang="en-US" sz="2400"/>
              <a:t>Maritime safety</a:t>
            </a:r>
          </a:p>
          <a:p>
            <a:pPr lvl="1"/>
            <a:r>
              <a:rPr lang="en-US" sz="2000"/>
              <a:t>Bearing extraction for ships in GNSS‑denied regions</a:t>
            </a:r>
          </a:p>
          <a:p>
            <a:pPr lvl="1"/>
            <a:r>
              <a:rPr lang="en-US" sz="2000"/>
              <a:t>Complementary to gyro‑compass and radar systems</a:t>
            </a:r>
          </a:p>
          <a:p>
            <a:r>
              <a:rPr lang="en-US" sz="2400"/>
              <a:t>Submarine navigation</a:t>
            </a:r>
          </a:p>
          <a:p>
            <a:pPr lvl="1"/>
            <a:r>
              <a:rPr lang="en-US" sz="2000"/>
              <a:t>Very Low Frequency signals penetrate seawater (~10 dB/m).</a:t>
            </a:r>
          </a:p>
          <a:p>
            <a:pPr lvl="1"/>
            <a:r>
              <a:rPr lang="en-US" sz="2000"/>
              <a:t>Limitation: only works at shallow depths ~3 to 5m, not deeper with small antennas (D=200mm N=24 turns)</a:t>
            </a:r>
          </a:p>
        </p:txBody>
      </p:sp>
    </p:spTree>
    <p:extLst>
      <p:ext uri="{BB962C8B-B14F-4D97-AF65-F5344CB8AC3E}">
        <p14:creationId xmlns:p14="http://schemas.microsoft.com/office/powerpoint/2010/main" val="1251772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26E6A-7456-B093-4234-C834229A4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Emerging Applications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0521-2219-82A9-C947-4C6C3B6C4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601039"/>
            <a:ext cx="8458200" cy="4186560"/>
          </a:xfrm>
        </p:spPr>
        <p:txBody>
          <a:bodyPr/>
          <a:lstStyle/>
          <a:p>
            <a:r>
              <a:rPr lang="en-US" sz="2400"/>
              <a:t>Critical infrastructure</a:t>
            </a:r>
          </a:p>
          <a:p>
            <a:pPr lvl="1"/>
            <a:r>
              <a:rPr lang="en-US" sz="2000"/>
              <a:t>Time synchronization for power grids and telecom networks</a:t>
            </a:r>
          </a:p>
          <a:p>
            <a:pPr lvl="1"/>
            <a:r>
              <a:rPr lang="en-US" sz="2000"/>
              <a:t>Independent of GNSS, robust against spoofing</a:t>
            </a:r>
          </a:p>
          <a:p>
            <a:r>
              <a:rPr lang="en-US" sz="2400"/>
              <a:t>Autonomous systems</a:t>
            </a:r>
          </a:p>
          <a:p>
            <a:pPr lvl="1"/>
            <a:r>
              <a:rPr lang="en-US" sz="2000"/>
              <a:t>VLF‑based navigation for drones and unmanned vehicles in contested environments</a:t>
            </a:r>
          </a:p>
          <a:p>
            <a:pPr lvl="1"/>
            <a:r>
              <a:rPr lang="en-US" sz="2000"/>
              <a:t>Provides un-</a:t>
            </a:r>
            <a:r>
              <a:rPr lang="en-US" sz="2000" err="1"/>
              <a:t>spoofable</a:t>
            </a:r>
            <a:r>
              <a:rPr lang="en-US" sz="2000"/>
              <a:t> and un‑jammable reference signals</a:t>
            </a:r>
          </a:p>
          <a:p>
            <a:r>
              <a:rPr lang="en-US" sz="2400"/>
              <a:t>Geophysical exploration</a:t>
            </a:r>
          </a:p>
          <a:p>
            <a:pPr lvl="1"/>
            <a:r>
              <a:rPr lang="en-US" sz="2000"/>
              <a:t>VLF penetration into rock/soil for subsurface mapping</a:t>
            </a:r>
          </a:p>
          <a:p>
            <a:pPr lvl="1"/>
            <a:r>
              <a:rPr lang="en-US" sz="2000"/>
              <a:t>Potential synergy with existing geophysical survey methods</a:t>
            </a:r>
          </a:p>
          <a:p>
            <a:pPr lvl="1"/>
            <a:r>
              <a:rPr lang="en-US" sz="2000"/>
              <a:t>Tunnel navigation system</a:t>
            </a:r>
          </a:p>
          <a:p>
            <a:pPr lvl="1"/>
            <a:r>
              <a:rPr lang="en-US" sz="2000">
                <a:solidFill>
                  <a:srgbClr val="7030A0"/>
                </a:solidFill>
              </a:rPr>
              <a:t>Good coverage for Polar regions</a:t>
            </a:r>
          </a:p>
        </p:txBody>
      </p:sp>
    </p:spTree>
    <p:extLst>
      <p:ext uri="{BB962C8B-B14F-4D97-AF65-F5344CB8AC3E}">
        <p14:creationId xmlns:p14="http://schemas.microsoft.com/office/powerpoint/2010/main" val="1307878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B77C-3103-F83B-7BD3-426977115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5C356-483F-D790-C175-E7B60E13A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387" y="901521"/>
            <a:ext cx="8749110" cy="3886077"/>
          </a:xfrm>
        </p:spPr>
        <p:txBody>
          <a:bodyPr/>
          <a:lstStyle/>
          <a:p>
            <a:r>
              <a:rPr lang="en-US" sz="1800"/>
              <a:t>VLF navigation subsystem integrated with IMU can form a stable INS </a:t>
            </a:r>
          </a:p>
          <a:p>
            <a:r>
              <a:rPr lang="en-US" sz="1800"/>
              <a:t>VLF navigation detects the bearing towards many VLF high power transmitters with predefined locations and calculates the position </a:t>
            </a:r>
          </a:p>
          <a:p>
            <a:r>
              <a:rPr lang="en-US" sz="1800"/>
              <a:t>Based on the information from VLF we can calculate</a:t>
            </a:r>
          </a:p>
          <a:p>
            <a:pPr lvl="1"/>
            <a:r>
              <a:rPr lang="en-US" sz="1800"/>
              <a:t> Our location, </a:t>
            </a:r>
            <a:r>
              <a:rPr lang="en-US" sz="1800">
                <a:solidFill>
                  <a:srgbClr val="7030A0"/>
                </a:solidFill>
              </a:rPr>
              <a:t>heading</a:t>
            </a:r>
            <a:r>
              <a:rPr lang="en-US" sz="1800"/>
              <a:t>, create a gyro-compass</a:t>
            </a:r>
          </a:p>
          <a:p>
            <a:r>
              <a:rPr lang="en-US" sz="1800"/>
              <a:t>Global coverage: &gt;30 transmitters worldwide, radiating hundreds of kW to MW</a:t>
            </a:r>
          </a:p>
          <a:p>
            <a:r>
              <a:rPr lang="en-US" sz="1800"/>
              <a:t>Un‑jammable: </a:t>
            </a:r>
          </a:p>
          <a:p>
            <a:pPr lvl="1"/>
            <a:r>
              <a:rPr lang="en-US" sz="1600"/>
              <a:t>Extremely low frequency, high power, fixed locations, huge antennas</a:t>
            </a:r>
          </a:p>
          <a:p>
            <a:r>
              <a:rPr lang="en-US" sz="1800"/>
              <a:t>Cross‑domain utility: </a:t>
            </a:r>
          </a:p>
          <a:p>
            <a:pPr lvl="1"/>
            <a:r>
              <a:rPr lang="en-US" sz="1600"/>
              <a:t>Same infrastructure supports airborne, marine, submarine, ground and underground drones</a:t>
            </a:r>
          </a:p>
          <a:p>
            <a:r>
              <a:rPr lang="en-US" sz="1800">
                <a:solidFill>
                  <a:srgbClr val="7030A0"/>
                </a:solidFill>
              </a:rPr>
              <a:t>Combination of </a:t>
            </a:r>
            <a:r>
              <a:rPr lang="en-US" sz="1800" err="1">
                <a:solidFill>
                  <a:srgbClr val="7030A0"/>
                </a:solidFill>
              </a:rPr>
              <a:t>TwoSents</a:t>
            </a:r>
            <a:r>
              <a:rPr lang="en-US" sz="1800">
                <a:solidFill>
                  <a:srgbClr val="7030A0"/>
                </a:solidFill>
              </a:rPr>
              <a:t> with VLF and INS will provide un-jammable, un-</a:t>
            </a:r>
            <a:r>
              <a:rPr lang="en-US" sz="1800" err="1">
                <a:solidFill>
                  <a:srgbClr val="7030A0"/>
                </a:solidFill>
              </a:rPr>
              <a:t>spoofable</a:t>
            </a:r>
            <a:r>
              <a:rPr lang="en-US" sz="1800">
                <a:solidFill>
                  <a:srgbClr val="7030A0"/>
                </a:solidFill>
              </a:rPr>
              <a:t> solution with the reliability and performance exceeding any market offerings today</a:t>
            </a:r>
          </a:p>
        </p:txBody>
      </p:sp>
    </p:spTree>
    <p:extLst>
      <p:ext uri="{BB962C8B-B14F-4D97-AF65-F5344CB8AC3E}">
        <p14:creationId xmlns:p14="http://schemas.microsoft.com/office/powerpoint/2010/main" val="3255213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5FFB8F-B47B-5BAF-09FC-1E8BFECB7ACE}"/>
              </a:ext>
            </a:extLst>
          </p:cNvPr>
          <p:cNvSpPr txBox="1"/>
          <p:nvPr/>
        </p:nvSpPr>
        <p:spPr>
          <a:xfrm>
            <a:off x="2183259" y="1119883"/>
            <a:ext cx="5660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Many thanks to all who have assisted with this project</a:t>
            </a:r>
          </a:p>
        </p:txBody>
      </p:sp>
    </p:spTree>
    <p:extLst>
      <p:ext uri="{BB962C8B-B14F-4D97-AF65-F5344CB8AC3E}">
        <p14:creationId xmlns:p14="http://schemas.microsoft.com/office/powerpoint/2010/main" val="4151999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024 General Presentation">
  <a:themeElements>
    <a:clrScheme name="Viavi PPT Colors 2016 9">
      <a:dk1>
        <a:srgbClr val="000000"/>
      </a:dk1>
      <a:lt1>
        <a:srgbClr val="FFFFFF"/>
      </a:lt1>
      <a:dk2>
        <a:srgbClr val="000000"/>
      </a:dk2>
      <a:lt2>
        <a:srgbClr val="491E88"/>
      </a:lt2>
      <a:accent1>
        <a:srgbClr val="491E88"/>
      </a:accent1>
      <a:accent2>
        <a:srgbClr val="0040A6"/>
      </a:accent2>
      <a:accent3>
        <a:srgbClr val="1F76C9"/>
      </a:accent3>
      <a:accent4>
        <a:srgbClr val="00AAE0"/>
      </a:accent4>
      <a:accent5>
        <a:srgbClr val="2CB34A"/>
      </a:accent5>
      <a:accent6>
        <a:srgbClr val="595959"/>
      </a:accent6>
      <a:hlink>
        <a:srgbClr val="00A9E0"/>
      </a:hlink>
      <a:folHlink>
        <a:srgbClr val="007BA6"/>
      </a:folHlink>
    </a:clrScheme>
    <a:fontScheme name="VIAVI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ot="0" spcFirstLastPara="0" vertOverflow="overflow" horzOverflow="overflow" vert="horz" wrap="square" lIns="457200" tIns="45720" rIns="45720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Purple">
      <a:srgbClr val="491E88"/>
    </a:custClr>
    <a:custClr name="Dark Blue">
      <a:srgbClr val="0040A6"/>
    </a:custClr>
    <a:custClr name="Med Blue">
      <a:srgbClr val="0070B8"/>
    </a:custClr>
    <a:custClr name="Light Blue">
      <a:srgbClr val="00A9E0"/>
    </a:custClr>
    <a:custClr name="Blue Green">
      <a:srgbClr val="00B0A2"/>
    </a:custClr>
    <a:custClr name="Green">
      <a:srgbClr val="2CB34A"/>
    </a:custClr>
    <a:custClr name="Chartreuse">
      <a:srgbClr val="9AC534"/>
    </a:custClr>
    <a:custClr name="Yellow">
      <a:srgbClr val="FFB500"/>
    </a:custClr>
    <a:custClr name="Orange">
      <a:srgbClr val="E87722"/>
    </a:custClr>
    <a:custClr name="Red">
      <a:srgbClr val="D50032"/>
    </a:custClr>
    <a:custClr name="Purple Light 20">
      <a:srgbClr val="634099"/>
    </a:custClr>
    <a:custClr name="Dark Blue Dark 15">
      <a:srgbClr val="00368D"/>
    </a:custClr>
    <a:custClr name="Med Blue Light 20">
      <a:srgbClr val="2684C3"/>
    </a:custClr>
    <a:custClr name="Light Blue Light 20">
      <a:srgbClr val="26B6E4"/>
    </a:custClr>
    <a:custClr name="Blue Green Light 20">
      <a:srgbClr val="26BBAF"/>
    </a:custClr>
    <a:custClr name="Green Light 20">
      <a:srgbClr val="4BBE64"/>
    </a:custClr>
    <a:custClr name="Chartreuse Light 20">
      <a:srgbClr val="A9CE52"/>
    </a:custClr>
    <a:custClr name="Yellow Light 20">
      <a:srgbClr val="FFC026"/>
    </a:custClr>
    <a:custClr name="Orange Light 20">
      <a:srgbClr val="EB8B42"/>
    </a:custClr>
    <a:custClr name="Red Light 20">
      <a:srgbClr val="DA2650"/>
    </a:custClr>
    <a:custClr name="Purple Dark 15">
      <a:srgbClr val="3D1A73"/>
    </a:custClr>
    <a:custClr name="Deep Blue">
      <a:srgbClr val="1A2B58"/>
    </a:custClr>
    <a:custClr name="Med Blue Dark 15">
      <a:srgbClr val="005E9D"/>
    </a:custClr>
    <a:custClr name="Light Blue Dark 15">
      <a:srgbClr val="0090C3"/>
    </a:custClr>
    <a:custClr name="Blue Green Dark 15">
      <a:srgbClr val="009589"/>
    </a:custClr>
    <a:custClr name="Green Dark 15">
      <a:srgbClr val="25983E"/>
    </a:custClr>
    <a:custClr name="Chartreuse Dark 15">
      <a:srgbClr val="83A82C"/>
    </a:custClr>
    <a:custClr name="Yellow Dark 15">
      <a:srgbClr val="DF9A00"/>
    </a:custClr>
    <a:custClr name="Orange Dark 15">
      <a:srgbClr val="C8651C"/>
    </a:custClr>
    <a:custClr name="Red Dark 15">
      <a:srgbClr val="B4002A"/>
    </a:custClr>
    <a:custClr name="Purple Dark 25">
      <a:srgbClr val="2F1458"/>
    </a:custClr>
    <a:custClr name="Darker Blue">
      <a:srgbClr val="000C2B"/>
    </a:custClr>
    <a:custClr name="Med Blue Dark 25">
      <a:srgbClr val="004878"/>
    </a:custClr>
    <a:custClr name="Light Blue Dark 25">
      <a:srgbClr val="006E9D"/>
    </a:custClr>
    <a:custClr name="Blue Green Dark 25">
      <a:srgbClr val="007269"/>
    </a:custClr>
    <a:custClr name="Green Dark 25">
      <a:srgbClr val="1D7530"/>
    </a:custClr>
    <a:custClr name="Chartreuse Dark 25">
      <a:srgbClr val="648022"/>
    </a:custClr>
    <a:custClr name="Yellow Dark 25">
      <a:srgbClr val="B47600"/>
    </a:custClr>
    <a:custClr name="Orange Dark 25">
      <a:srgbClr val="9D4D15"/>
    </a:custClr>
    <a:custClr name="Red Dark 25">
      <a:srgbClr val="8A0020"/>
    </a:custClr>
  </a:custClrLst>
  <a:extLst>
    <a:ext uri="{05A4C25C-085E-4340-85A3-A5531E510DB2}">
      <thm15:themeFamily xmlns:thm15="http://schemas.microsoft.com/office/thememl/2012/main" name="2024 General Presentation" id="{4FA21BE5-8E63-4201-ABB1-FE35B02E81E5}" vid="{61CEE68B-14CA-4D9F-8829-74E4E9D0F5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d90d79b-63e3-4145-946a-c19922bd9824" xsi:nil="true"/>
    <lcf76f155ced4ddcb4097134ff3c332f xmlns="57c29802-6b0b-4f5f-9913-09aea40dd17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21652F47AFDC419200FFC56E4D885B" ma:contentTypeVersion="15" ma:contentTypeDescription="Create a new document." ma:contentTypeScope="" ma:versionID="92686b5e7c38588ac4ef4b7d21a435ca">
  <xsd:schema xmlns:xsd="http://www.w3.org/2001/XMLSchema" xmlns:xs="http://www.w3.org/2001/XMLSchema" xmlns:p="http://schemas.microsoft.com/office/2006/metadata/properties" xmlns:ns2="57c29802-6b0b-4f5f-9913-09aea40dd176" xmlns:ns3="7d90d79b-63e3-4145-946a-c19922bd9824" targetNamespace="http://schemas.microsoft.com/office/2006/metadata/properties" ma:root="true" ma:fieldsID="fa29ec03573e694a41304c4e18ef3c14" ns2:_="" ns3:_="">
    <xsd:import namespace="57c29802-6b0b-4f5f-9913-09aea40dd176"/>
    <xsd:import namespace="7d90d79b-63e3-4145-946a-c19922bd98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c29802-6b0b-4f5f-9913-09aea40dd1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e5d722-3293-45c6-a10d-28c7379cb0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0d79b-63e3-4145-946a-c19922bd982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6d8b9a1-4b97-401c-82b8-0b225bc86f3c}" ma:internalName="TaxCatchAll" ma:showField="CatchAllData" ma:web="7d90d79b-63e3-4145-946a-c19922bd98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9853AE-8F0E-4A12-A048-A1DB99C7A813}">
  <ds:schemaRefs>
    <ds:schemaRef ds:uri="57c29802-6b0b-4f5f-9913-09aea40dd176"/>
    <ds:schemaRef ds:uri="7d90d79b-63e3-4145-946a-c19922bd98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118694-B15F-4599-B373-51A4DE785106}">
  <ds:schemaRefs>
    <ds:schemaRef ds:uri="57c29802-6b0b-4f5f-9913-09aea40dd176"/>
    <ds:schemaRef ds:uri="7d90d79b-63e3-4145-946a-c19922bd98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487C369-450E-490E-8EFD-01B63BFB4C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29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2024 General Presentation</vt:lpstr>
      <vt:lpstr>Proof of Concept for Resilient VLF Navigation “Precision in the invisible spectrum — from sub-kilohertz to sub-degree.”</vt:lpstr>
      <vt:lpstr>Why Navigation Demands Resilience</vt:lpstr>
      <vt:lpstr>What Is VLF and Why It Matters</vt:lpstr>
      <vt:lpstr>The Problem</vt:lpstr>
      <vt:lpstr>The Solution</vt:lpstr>
      <vt:lpstr>Applications and Benefits of GNSSless Navigation</vt:lpstr>
      <vt:lpstr>How it works</vt:lpstr>
      <vt:lpstr>Two signals from NAA and WWVB are used for estimation</vt:lpstr>
      <vt:lpstr>Transmitters, Locations, Power, Field Strength &amp; SNR</vt:lpstr>
      <vt:lpstr>Available VLF transmitters</vt:lpstr>
      <vt:lpstr>Are the signals available anywhere?</vt:lpstr>
      <vt:lpstr>What was done</vt:lpstr>
      <vt:lpstr>Proof of Concept Test</vt:lpstr>
      <vt:lpstr>Channel signals</vt:lpstr>
      <vt:lpstr>Signal Spectrum with Color-Coded AoA</vt:lpstr>
      <vt:lpstr>Reference at 0 degree true angle</vt:lpstr>
      <vt:lpstr>Reference immediately after 0 to 30 degree rotation</vt:lpstr>
      <vt:lpstr>Reference at 330 degree true angle</vt:lpstr>
      <vt:lpstr>24 kHz Source at 30 degree true angle</vt:lpstr>
      <vt:lpstr>25.2 kHz Source at 30 degree true angle</vt:lpstr>
      <vt:lpstr>Proof of Concept Results:  Bearing Accuracy for uncalibrated system</vt:lpstr>
      <vt:lpstr>Bearing Error (peak) vs. SNR (best and simulated)</vt:lpstr>
      <vt:lpstr>Next steps</vt:lpstr>
      <vt:lpstr>Next product: VLF receiver</vt:lpstr>
      <vt:lpstr>Crazy approach for low-cost navigation</vt:lpstr>
      <vt:lpstr>Emerging Applications</vt:lpstr>
      <vt:lpstr>Emerging Applications cont’d</vt:lpstr>
      <vt:lpstr>Highlights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 (Use Title Case)</dc:title>
  <dc:subject/>
  <dc:creator>Cynthia Fonseca</dc:creator>
  <cp:keywords/>
  <dc:description/>
  <cp:revision>10</cp:revision>
  <dcterms:created xsi:type="dcterms:W3CDTF">2024-01-10T15:15:05Z</dcterms:created>
  <dcterms:modified xsi:type="dcterms:W3CDTF">2025-12-08T02:43:24Z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https://viavicentral.viavisolutions.com</vt:lpwstr>
  </property>
  <property fmtid="{D5CDD505-2E9C-101B-9397-08002B2CF9AE}" pid="3" name="Offisync_UpdateToken">
    <vt:lpwstr>3</vt:lpwstr>
  </property>
  <property fmtid="{D5CDD505-2E9C-101B-9397-08002B2CF9AE}" pid="4" name="Jive_VersionGuid">
    <vt:lpwstr>934fd53b-b20e-4c9e-8c91-8a27c6be1b02</vt:lpwstr>
  </property>
  <property fmtid="{D5CDD505-2E9C-101B-9397-08002B2CF9AE}" pid="5" name="Jive_LatestUserAccountName">
    <vt:lpwstr>mar68834</vt:lpwstr>
  </property>
  <property fmtid="{D5CDD505-2E9C-101B-9397-08002B2CF9AE}" pid="6" name="Offisync_UniqueId">
    <vt:lpwstr>17503</vt:lpwstr>
  </property>
  <property fmtid="{D5CDD505-2E9C-101B-9397-08002B2CF9AE}" pid="7" name="Offisync_ServerID">
    <vt:lpwstr>85ac033c-68ff-404e-8863-b24da5829110</vt:lpwstr>
  </property>
  <property fmtid="{D5CDD505-2E9C-101B-9397-08002B2CF9AE}" pid="8" name="Order">
    <vt:r8>30500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MediaServiceImageTags">
    <vt:lpwstr/>
  </property>
  <property fmtid="{D5CDD505-2E9C-101B-9397-08002B2CF9AE}" pid="14" name="ClassificationContentMarkingHeaderLocations">
    <vt:lpwstr>VIAVI_PPT_Template:6</vt:lpwstr>
  </property>
  <property fmtid="{D5CDD505-2E9C-101B-9397-08002B2CF9AE}" pid="15" name="ClassificationContentMarkingHeaderText">
    <vt:lpwstr>VIAVI//Restricted</vt:lpwstr>
  </property>
  <property fmtid="{D5CDD505-2E9C-101B-9397-08002B2CF9AE}" pid="16" name="MSIP_Label_439a069f-d4f6-4f68-a3a8-a0e71f5a4736_Enabled">
    <vt:lpwstr>true</vt:lpwstr>
  </property>
  <property fmtid="{D5CDD505-2E9C-101B-9397-08002B2CF9AE}" pid="17" name="MSIP_Label_439a069f-d4f6-4f68-a3a8-a0e71f5a4736_SetDate">
    <vt:lpwstr>2023-11-07T20:48:38Z</vt:lpwstr>
  </property>
  <property fmtid="{D5CDD505-2E9C-101B-9397-08002B2CF9AE}" pid="18" name="MSIP_Label_439a069f-d4f6-4f68-a3a8-a0e71f5a4736_Method">
    <vt:lpwstr>Privileged</vt:lpwstr>
  </property>
  <property fmtid="{D5CDD505-2E9C-101B-9397-08002B2CF9AE}" pid="19" name="MSIP_Label_439a069f-d4f6-4f68-a3a8-a0e71f5a4736_Name">
    <vt:lpwstr>VIAVI Public</vt:lpwstr>
  </property>
  <property fmtid="{D5CDD505-2E9C-101B-9397-08002B2CF9AE}" pid="20" name="MSIP_Label_439a069f-d4f6-4f68-a3a8-a0e71f5a4736_SiteId">
    <vt:lpwstr>c44ec86f-d007-4b6c-8795-8ea75e4a6f9b</vt:lpwstr>
  </property>
  <property fmtid="{D5CDD505-2E9C-101B-9397-08002B2CF9AE}" pid="21" name="MSIP_Label_439a069f-d4f6-4f68-a3a8-a0e71f5a4736_ActionId">
    <vt:lpwstr>b702e593-ac05-4507-ae0f-ac60eaad97a2</vt:lpwstr>
  </property>
  <property fmtid="{D5CDD505-2E9C-101B-9397-08002B2CF9AE}" pid="22" name="MSIP_Label_439a069f-d4f6-4f68-a3a8-a0e71f5a4736_ContentBits">
    <vt:lpwstr>2</vt:lpwstr>
  </property>
  <property fmtid="{D5CDD505-2E9C-101B-9397-08002B2CF9AE}" pid="23" name="ClassificationContentMarkingFooterLocations">
    <vt:lpwstr>VIAVI_PPT_Template:4</vt:lpwstr>
  </property>
  <property fmtid="{D5CDD505-2E9C-101B-9397-08002B2CF9AE}" pid="24" name="ClassificationContentMarkingFooterText">
    <vt:lpwstr>VIAVI//Public</vt:lpwstr>
  </property>
  <property fmtid="{D5CDD505-2E9C-101B-9397-08002B2CF9AE}" pid="25" name="ContentTypeId">
    <vt:lpwstr>0x0101002021652F47AFDC419200FFC56E4D885B</vt:lpwstr>
  </property>
  <property fmtid="{D5CDD505-2E9C-101B-9397-08002B2CF9AE}" pid="26" name="_dlc_DocIdItemGuid">
    <vt:lpwstr>f6c0d311-17fa-486c-8cbc-0444801621ae</vt:lpwstr>
  </property>
  <property fmtid="{D5CDD505-2E9C-101B-9397-08002B2CF9AE}" pid="27" name="S_x002d_Gated_x0020_Status">
    <vt:lpwstr/>
  </property>
  <property fmtid="{D5CDD505-2E9C-101B-9397-08002B2CF9AE}" pid="28" name="S_x002d_LiveSend">
    <vt:lpwstr/>
  </property>
  <property fmtid="{D5CDD505-2E9C-101B-9397-08002B2CF9AE}" pid="29" name="S_x002d_L4">
    <vt:lpwstr/>
  </property>
  <property fmtid="{D5CDD505-2E9C-101B-9397-08002B2CF9AE}" pid="30" name="S_x002d_Products">
    <vt:lpwstr/>
  </property>
  <property fmtid="{D5CDD505-2E9C-101B-9397-08002B2CF9AE}" pid="31" name="S_x002d_Format_x0020_Type">
    <vt:lpwstr/>
  </property>
  <property fmtid="{D5CDD505-2E9C-101B-9397-08002B2CF9AE}" pid="32" name="S_x002d_Language">
    <vt:lpwstr/>
  </property>
  <property fmtid="{D5CDD505-2E9C-101B-9397-08002B2CF9AE}" pid="33" name="S_x002d_MarketingOptions">
    <vt:lpwstr/>
  </property>
  <property fmtid="{D5CDD505-2E9C-101B-9397-08002B2CF9AE}" pid="34" name="S_x002d_Category">
    <vt:lpwstr/>
  </property>
  <property fmtid="{D5CDD505-2E9C-101B-9397-08002B2CF9AE}" pid="35" name="S_x002d_Location">
    <vt:lpwstr/>
  </property>
  <property fmtid="{D5CDD505-2E9C-101B-9397-08002B2CF9AE}" pid="36" name="S-Language">
    <vt:lpwstr/>
  </property>
  <property fmtid="{D5CDD505-2E9C-101B-9397-08002B2CF9AE}" pid="37" name="S-L4">
    <vt:lpwstr/>
  </property>
  <property fmtid="{D5CDD505-2E9C-101B-9397-08002B2CF9AE}" pid="38" name="S-Location">
    <vt:lpwstr/>
  </property>
  <property fmtid="{D5CDD505-2E9C-101B-9397-08002B2CF9AE}" pid="39" name="S-LiveSend">
    <vt:lpwstr/>
  </property>
  <property fmtid="{D5CDD505-2E9C-101B-9397-08002B2CF9AE}" pid="40" name="S-MarketingOptions">
    <vt:lpwstr/>
  </property>
  <property fmtid="{D5CDD505-2E9C-101B-9397-08002B2CF9AE}" pid="41" name="S-Gated Status">
    <vt:lpwstr/>
  </property>
  <property fmtid="{D5CDD505-2E9C-101B-9397-08002B2CF9AE}" pid="42" name="S-Format Type">
    <vt:lpwstr/>
  </property>
  <property fmtid="{D5CDD505-2E9C-101B-9397-08002B2CF9AE}" pid="43" name="S-Products">
    <vt:lpwstr/>
  </property>
  <property fmtid="{D5CDD505-2E9C-101B-9397-08002B2CF9AE}" pid="44" name="S-Category">
    <vt:lpwstr/>
  </property>
  <property fmtid="{D5CDD505-2E9C-101B-9397-08002B2CF9AE}" pid="45" name="S-Restriction-Audience">
    <vt:lpwstr/>
  </property>
  <property fmtid="{D5CDD505-2E9C-101B-9397-08002B2CF9AE}" pid="46" name="S_x002d_Restriction_x002d_Audience">
    <vt:lpwstr/>
  </property>
</Properties>
</file>